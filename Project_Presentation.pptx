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77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25" autoAdjust="0"/>
    <p:restoredTop sz="94694"/>
  </p:normalViewPr>
  <p:slideViewPr>
    <p:cSldViewPr snapToGrid="0">
      <p:cViewPr>
        <p:scale>
          <a:sx n="69" d="100"/>
          <a:sy n="69" d="100"/>
        </p:scale>
        <p:origin x="2296" y="1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4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9DB0DD-BEC4-4460-A882-1D8D6D4DF7FE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036B6F64-DDFB-4CCE-893B-33A21C54ECD8}">
      <dgm:prSet/>
      <dgm:spPr/>
      <dgm:t>
        <a:bodyPr/>
        <a:lstStyle/>
        <a:p>
          <a:r>
            <a:rPr lang="en-US" b="1" i="0" baseline="0"/>
            <a:t>Optimized ultrasonic sensing</a:t>
          </a:r>
          <a:r>
            <a:rPr lang="en-US" b="0" i="0" baseline="0"/>
            <a:t> by reducing sensor timeout, resulting in faster distance acquisition and improved system responsiveness </a:t>
          </a:r>
          <a:endParaRPr lang="en-US"/>
        </a:p>
      </dgm:t>
    </dgm:pt>
    <dgm:pt modelId="{76A680B1-DC31-4569-A5C6-16242FBD7FD5}" type="parTrans" cxnId="{06A15DF6-7C10-48EA-8FC2-893A897C6B15}">
      <dgm:prSet/>
      <dgm:spPr/>
      <dgm:t>
        <a:bodyPr/>
        <a:lstStyle/>
        <a:p>
          <a:endParaRPr lang="en-US"/>
        </a:p>
      </dgm:t>
    </dgm:pt>
    <dgm:pt modelId="{3B435D29-A74C-4C76-AA1C-37AE92DCAB65}" type="sibTrans" cxnId="{06A15DF6-7C10-48EA-8FC2-893A897C6B15}">
      <dgm:prSet/>
      <dgm:spPr/>
      <dgm:t>
        <a:bodyPr/>
        <a:lstStyle/>
        <a:p>
          <a:endParaRPr lang="en-US"/>
        </a:p>
      </dgm:t>
    </dgm:pt>
    <dgm:pt modelId="{B1535EEF-DB6C-47DB-9928-8DDF9BE681D8}">
      <dgm:prSet/>
      <dgm:spPr/>
      <dgm:t>
        <a:bodyPr/>
        <a:lstStyle/>
        <a:p>
          <a:r>
            <a:rPr lang="en-US" b="1" i="0" baseline="0"/>
            <a:t>Implemented non-blocking communication in Python</a:t>
          </a:r>
          <a:r>
            <a:rPr lang="en-US" b="0" i="0" baseline="0"/>
            <a:t>, ensuring continuous data flow without delays or system stalling</a:t>
          </a:r>
          <a:endParaRPr lang="en-US"/>
        </a:p>
      </dgm:t>
    </dgm:pt>
    <dgm:pt modelId="{B723F2B2-3009-459D-98E1-B91843D3B867}" type="parTrans" cxnId="{108010D2-14C9-4B21-BD10-FA6B48E53395}">
      <dgm:prSet/>
      <dgm:spPr/>
      <dgm:t>
        <a:bodyPr/>
        <a:lstStyle/>
        <a:p>
          <a:endParaRPr lang="en-US"/>
        </a:p>
      </dgm:t>
    </dgm:pt>
    <dgm:pt modelId="{F815FAB0-20AD-43C5-B06B-29F0836D11F1}" type="sibTrans" cxnId="{108010D2-14C9-4B21-BD10-FA6B48E53395}">
      <dgm:prSet/>
      <dgm:spPr/>
      <dgm:t>
        <a:bodyPr/>
        <a:lstStyle/>
        <a:p>
          <a:endParaRPr lang="en-US"/>
        </a:p>
      </dgm:t>
    </dgm:pt>
    <dgm:pt modelId="{3BF5F400-C7FB-4361-AF5D-04C70592301E}">
      <dgm:prSet/>
      <dgm:spPr/>
      <dgm:t>
        <a:bodyPr/>
        <a:lstStyle/>
        <a:p>
          <a:r>
            <a:rPr lang="en-US" b="1" i="0" baseline="0"/>
            <a:t>Enhanced QNX control loop performance</a:t>
          </a:r>
          <a:r>
            <a:rPr lang="en-US" b="0" i="0" baseline="0"/>
            <a:t>, enabling faster decision-making and improved real-time behavior</a:t>
          </a:r>
          <a:endParaRPr lang="en-US"/>
        </a:p>
      </dgm:t>
    </dgm:pt>
    <dgm:pt modelId="{20E55A6E-004E-4B73-8058-3EF0F42E4B09}" type="parTrans" cxnId="{D40AD699-BB15-4B09-BDCF-F78656E85138}">
      <dgm:prSet/>
      <dgm:spPr/>
      <dgm:t>
        <a:bodyPr/>
        <a:lstStyle/>
        <a:p>
          <a:endParaRPr lang="en-US"/>
        </a:p>
      </dgm:t>
    </dgm:pt>
    <dgm:pt modelId="{FD631BA3-D3A1-43B2-8A42-63243A5D6472}" type="sibTrans" cxnId="{D40AD699-BB15-4B09-BDCF-F78656E85138}">
      <dgm:prSet/>
      <dgm:spPr/>
      <dgm:t>
        <a:bodyPr/>
        <a:lstStyle/>
        <a:p>
          <a:endParaRPr lang="en-US"/>
        </a:p>
      </dgm:t>
    </dgm:pt>
    <dgm:pt modelId="{B3FAECD5-91CB-43A8-B3D8-E0A065085EDB}">
      <dgm:prSet/>
      <dgm:spPr/>
      <dgm:t>
        <a:bodyPr/>
        <a:lstStyle/>
        <a:p>
          <a:r>
            <a:rPr lang="en-US" b="1" i="0" baseline="0"/>
            <a:t>Refined serial data parsing mechanisms</a:t>
          </a:r>
          <a:r>
            <a:rPr lang="en-US" b="0" i="0" baseline="0"/>
            <a:t>, ensuring accurate and reliable interpretation of incoming data </a:t>
          </a:r>
          <a:endParaRPr lang="en-US"/>
        </a:p>
      </dgm:t>
    </dgm:pt>
    <dgm:pt modelId="{21F821A7-6C30-42F0-AB20-9D243C30E430}" type="parTrans" cxnId="{EB70D8F2-403B-4FA3-BFD2-223A0C131E14}">
      <dgm:prSet/>
      <dgm:spPr/>
      <dgm:t>
        <a:bodyPr/>
        <a:lstStyle/>
        <a:p>
          <a:endParaRPr lang="en-US"/>
        </a:p>
      </dgm:t>
    </dgm:pt>
    <dgm:pt modelId="{BBCE86FF-8B64-44EA-9F49-B897E5E00741}" type="sibTrans" cxnId="{EB70D8F2-403B-4FA3-BFD2-223A0C131E14}">
      <dgm:prSet/>
      <dgm:spPr/>
      <dgm:t>
        <a:bodyPr/>
        <a:lstStyle/>
        <a:p>
          <a:endParaRPr lang="en-US"/>
        </a:p>
      </dgm:t>
    </dgm:pt>
    <dgm:pt modelId="{8B1533B7-9CEA-4BA2-800D-E48958B08E7A}" type="pres">
      <dgm:prSet presAssocID="{AB9DB0DD-BEC4-4460-A882-1D8D6D4DF7FE}" presName="root" presStyleCnt="0">
        <dgm:presLayoutVars>
          <dgm:dir/>
          <dgm:resizeHandles val="exact"/>
        </dgm:presLayoutVars>
      </dgm:prSet>
      <dgm:spPr/>
    </dgm:pt>
    <dgm:pt modelId="{C1229709-68FB-4D18-96A4-88D46DB8D067}" type="pres">
      <dgm:prSet presAssocID="{AB9DB0DD-BEC4-4460-A882-1D8D6D4DF7FE}" presName="container" presStyleCnt="0">
        <dgm:presLayoutVars>
          <dgm:dir/>
          <dgm:resizeHandles val="exact"/>
        </dgm:presLayoutVars>
      </dgm:prSet>
      <dgm:spPr/>
    </dgm:pt>
    <dgm:pt modelId="{DDFE19B6-FE25-4537-8948-70BA5BA28A6A}" type="pres">
      <dgm:prSet presAssocID="{036B6F64-DDFB-4CCE-893B-33A21C54ECD8}" presName="compNode" presStyleCnt="0"/>
      <dgm:spPr/>
    </dgm:pt>
    <dgm:pt modelId="{52AD6352-A93D-4344-9210-E6C5C8D56ED3}" type="pres">
      <dgm:prSet presAssocID="{036B6F64-DDFB-4CCE-893B-33A21C54ECD8}" presName="iconBgRect" presStyleLbl="bgShp" presStyleIdx="0" presStyleCnt="4"/>
      <dgm:spPr/>
    </dgm:pt>
    <dgm:pt modelId="{1C5E951B-0D73-41CF-AFB4-D8ECD7CEA18F}" type="pres">
      <dgm:prSet presAssocID="{036B6F64-DDFB-4CCE-893B-33A21C54ECD8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E9D3A8E7-E7D5-4460-A6A5-B0A516FBD366}" type="pres">
      <dgm:prSet presAssocID="{036B6F64-DDFB-4CCE-893B-33A21C54ECD8}" presName="spaceRect" presStyleCnt="0"/>
      <dgm:spPr/>
    </dgm:pt>
    <dgm:pt modelId="{FF412710-A69B-45FD-B57C-9226885444D8}" type="pres">
      <dgm:prSet presAssocID="{036B6F64-DDFB-4CCE-893B-33A21C54ECD8}" presName="textRect" presStyleLbl="revTx" presStyleIdx="0" presStyleCnt="4">
        <dgm:presLayoutVars>
          <dgm:chMax val="1"/>
          <dgm:chPref val="1"/>
        </dgm:presLayoutVars>
      </dgm:prSet>
      <dgm:spPr/>
    </dgm:pt>
    <dgm:pt modelId="{B641BFD6-73D5-4770-9B3E-799AB4675E75}" type="pres">
      <dgm:prSet presAssocID="{3B435D29-A74C-4C76-AA1C-37AE92DCAB65}" presName="sibTrans" presStyleLbl="sibTrans2D1" presStyleIdx="0" presStyleCnt="0"/>
      <dgm:spPr/>
    </dgm:pt>
    <dgm:pt modelId="{06E8F496-64D1-4DE7-96BE-1EC87F4447F2}" type="pres">
      <dgm:prSet presAssocID="{B1535EEF-DB6C-47DB-9928-8DDF9BE681D8}" presName="compNode" presStyleCnt="0"/>
      <dgm:spPr/>
    </dgm:pt>
    <dgm:pt modelId="{FB4DC3D0-CDF0-48F1-B6E6-8DE5B5DEE234}" type="pres">
      <dgm:prSet presAssocID="{B1535EEF-DB6C-47DB-9928-8DDF9BE681D8}" presName="iconBgRect" presStyleLbl="bgShp" presStyleIdx="1" presStyleCnt="4"/>
      <dgm:spPr/>
    </dgm:pt>
    <dgm:pt modelId="{512084A6-2044-4D55-A321-EDC6DCE6139A}" type="pres">
      <dgm:prSet presAssocID="{B1535EEF-DB6C-47DB-9928-8DDF9BE681D8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740AE779-78CF-4C8E-97F9-C97799BDE9E7}" type="pres">
      <dgm:prSet presAssocID="{B1535EEF-DB6C-47DB-9928-8DDF9BE681D8}" presName="spaceRect" presStyleCnt="0"/>
      <dgm:spPr/>
    </dgm:pt>
    <dgm:pt modelId="{972E3DAF-A72F-44FA-B68D-DA6C5BFB5E08}" type="pres">
      <dgm:prSet presAssocID="{B1535EEF-DB6C-47DB-9928-8DDF9BE681D8}" presName="textRect" presStyleLbl="revTx" presStyleIdx="1" presStyleCnt="4">
        <dgm:presLayoutVars>
          <dgm:chMax val="1"/>
          <dgm:chPref val="1"/>
        </dgm:presLayoutVars>
      </dgm:prSet>
      <dgm:spPr/>
    </dgm:pt>
    <dgm:pt modelId="{E1976611-655F-4E79-AF4C-D93D00CA66CA}" type="pres">
      <dgm:prSet presAssocID="{F815FAB0-20AD-43C5-B06B-29F0836D11F1}" presName="sibTrans" presStyleLbl="sibTrans2D1" presStyleIdx="0" presStyleCnt="0"/>
      <dgm:spPr/>
    </dgm:pt>
    <dgm:pt modelId="{F9386D1A-CEFB-4392-9D2E-8A77B72A31EC}" type="pres">
      <dgm:prSet presAssocID="{3BF5F400-C7FB-4361-AF5D-04C70592301E}" presName="compNode" presStyleCnt="0"/>
      <dgm:spPr/>
    </dgm:pt>
    <dgm:pt modelId="{6D7F5632-A632-4C41-A40C-2351EDEDA64C}" type="pres">
      <dgm:prSet presAssocID="{3BF5F400-C7FB-4361-AF5D-04C70592301E}" presName="iconBgRect" presStyleLbl="bgShp" presStyleIdx="2" presStyleCnt="4"/>
      <dgm:spPr/>
    </dgm:pt>
    <dgm:pt modelId="{E69713B7-45C4-4E20-8830-0E974BFC9351}" type="pres">
      <dgm:prSet presAssocID="{3BF5F400-C7FB-4361-AF5D-04C70592301E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gnal"/>
        </a:ext>
      </dgm:extLst>
    </dgm:pt>
    <dgm:pt modelId="{6F62DD23-6143-4D19-A016-F71AD194A75A}" type="pres">
      <dgm:prSet presAssocID="{3BF5F400-C7FB-4361-AF5D-04C70592301E}" presName="spaceRect" presStyleCnt="0"/>
      <dgm:spPr/>
    </dgm:pt>
    <dgm:pt modelId="{91E7FBA6-0A4C-41BE-862E-41CF24F1F43B}" type="pres">
      <dgm:prSet presAssocID="{3BF5F400-C7FB-4361-AF5D-04C70592301E}" presName="textRect" presStyleLbl="revTx" presStyleIdx="2" presStyleCnt="4">
        <dgm:presLayoutVars>
          <dgm:chMax val="1"/>
          <dgm:chPref val="1"/>
        </dgm:presLayoutVars>
      </dgm:prSet>
      <dgm:spPr/>
    </dgm:pt>
    <dgm:pt modelId="{1379FBC4-3444-4FF8-8966-55CC2AC0FA4B}" type="pres">
      <dgm:prSet presAssocID="{FD631BA3-D3A1-43B2-8A42-63243A5D6472}" presName="sibTrans" presStyleLbl="sibTrans2D1" presStyleIdx="0" presStyleCnt="0"/>
      <dgm:spPr/>
    </dgm:pt>
    <dgm:pt modelId="{464670BA-DAC2-4D9E-ADA8-BF4A1780075D}" type="pres">
      <dgm:prSet presAssocID="{B3FAECD5-91CB-43A8-B3D8-E0A065085EDB}" presName="compNode" presStyleCnt="0"/>
      <dgm:spPr/>
    </dgm:pt>
    <dgm:pt modelId="{89A9E9A5-850A-4DD5-8254-69B6521AA245}" type="pres">
      <dgm:prSet presAssocID="{B3FAECD5-91CB-43A8-B3D8-E0A065085EDB}" presName="iconBgRect" presStyleLbl="bgShp" presStyleIdx="3" presStyleCnt="4"/>
      <dgm:spPr/>
    </dgm:pt>
    <dgm:pt modelId="{17018E3B-21F8-4900-A33F-9F3CD506771A}" type="pres">
      <dgm:prSet presAssocID="{B3FAECD5-91CB-43A8-B3D8-E0A065085EDB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73CBA92-9D7B-4E94-9E39-F998E94AB527}" type="pres">
      <dgm:prSet presAssocID="{B3FAECD5-91CB-43A8-B3D8-E0A065085EDB}" presName="spaceRect" presStyleCnt="0"/>
      <dgm:spPr/>
    </dgm:pt>
    <dgm:pt modelId="{1E515883-34F1-4699-83AC-08385E01B336}" type="pres">
      <dgm:prSet presAssocID="{B3FAECD5-91CB-43A8-B3D8-E0A065085ED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9E77311-214F-4CEF-BDC3-34B099F2E479}" type="presOf" srcId="{AB9DB0DD-BEC4-4460-A882-1D8D6D4DF7FE}" destId="{8B1533B7-9CEA-4BA2-800D-E48958B08E7A}" srcOrd="0" destOrd="0" presId="urn:microsoft.com/office/officeart/2018/2/layout/IconCircleList"/>
    <dgm:cxn modelId="{11F9F013-1CE1-4067-9A11-2CAE507D22BD}" type="presOf" srcId="{3B435D29-A74C-4C76-AA1C-37AE92DCAB65}" destId="{B641BFD6-73D5-4770-9B3E-799AB4675E75}" srcOrd="0" destOrd="0" presId="urn:microsoft.com/office/officeart/2018/2/layout/IconCircleList"/>
    <dgm:cxn modelId="{5690FE30-116B-46B0-8498-07B6C11569CB}" type="presOf" srcId="{036B6F64-DDFB-4CCE-893B-33A21C54ECD8}" destId="{FF412710-A69B-45FD-B57C-9226885444D8}" srcOrd="0" destOrd="0" presId="urn:microsoft.com/office/officeart/2018/2/layout/IconCircleList"/>
    <dgm:cxn modelId="{CAAF0246-FD4C-4CF5-A848-99ED6C2B600E}" type="presOf" srcId="{B3FAECD5-91CB-43A8-B3D8-E0A065085EDB}" destId="{1E515883-34F1-4699-83AC-08385E01B336}" srcOrd="0" destOrd="0" presId="urn:microsoft.com/office/officeart/2018/2/layout/IconCircleList"/>
    <dgm:cxn modelId="{B80F0E5B-AEC9-4AD7-B02D-0AA180229732}" type="presOf" srcId="{FD631BA3-D3A1-43B2-8A42-63243A5D6472}" destId="{1379FBC4-3444-4FF8-8966-55CC2AC0FA4B}" srcOrd="0" destOrd="0" presId="urn:microsoft.com/office/officeart/2018/2/layout/IconCircleList"/>
    <dgm:cxn modelId="{6B902A6A-3348-4DF4-9669-EB55B2475229}" type="presOf" srcId="{F815FAB0-20AD-43C5-B06B-29F0836D11F1}" destId="{E1976611-655F-4E79-AF4C-D93D00CA66CA}" srcOrd="0" destOrd="0" presId="urn:microsoft.com/office/officeart/2018/2/layout/IconCircleList"/>
    <dgm:cxn modelId="{3788E57B-5498-4F3D-9810-7DDCD8CCA664}" type="presOf" srcId="{B1535EEF-DB6C-47DB-9928-8DDF9BE681D8}" destId="{972E3DAF-A72F-44FA-B68D-DA6C5BFB5E08}" srcOrd="0" destOrd="0" presId="urn:microsoft.com/office/officeart/2018/2/layout/IconCircleList"/>
    <dgm:cxn modelId="{D40AD699-BB15-4B09-BDCF-F78656E85138}" srcId="{AB9DB0DD-BEC4-4460-A882-1D8D6D4DF7FE}" destId="{3BF5F400-C7FB-4361-AF5D-04C70592301E}" srcOrd="2" destOrd="0" parTransId="{20E55A6E-004E-4B73-8058-3EF0F42E4B09}" sibTransId="{FD631BA3-D3A1-43B2-8A42-63243A5D6472}"/>
    <dgm:cxn modelId="{108010D2-14C9-4B21-BD10-FA6B48E53395}" srcId="{AB9DB0DD-BEC4-4460-A882-1D8D6D4DF7FE}" destId="{B1535EEF-DB6C-47DB-9928-8DDF9BE681D8}" srcOrd="1" destOrd="0" parTransId="{B723F2B2-3009-459D-98E1-B91843D3B867}" sibTransId="{F815FAB0-20AD-43C5-B06B-29F0836D11F1}"/>
    <dgm:cxn modelId="{764029ED-7097-444A-8E30-73FACA65FAFA}" type="presOf" srcId="{3BF5F400-C7FB-4361-AF5D-04C70592301E}" destId="{91E7FBA6-0A4C-41BE-862E-41CF24F1F43B}" srcOrd="0" destOrd="0" presId="urn:microsoft.com/office/officeart/2018/2/layout/IconCircleList"/>
    <dgm:cxn modelId="{EB70D8F2-403B-4FA3-BFD2-223A0C131E14}" srcId="{AB9DB0DD-BEC4-4460-A882-1D8D6D4DF7FE}" destId="{B3FAECD5-91CB-43A8-B3D8-E0A065085EDB}" srcOrd="3" destOrd="0" parTransId="{21F821A7-6C30-42F0-AB20-9D243C30E430}" sibTransId="{BBCE86FF-8B64-44EA-9F49-B897E5E00741}"/>
    <dgm:cxn modelId="{06A15DF6-7C10-48EA-8FC2-893A897C6B15}" srcId="{AB9DB0DD-BEC4-4460-A882-1D8D6D4DF7FE}" destId="{036B6F64-DDFB-4CCE-893B-33A21C54ECD8}" srcOrd="0" destOrd="0" parTransId="{76A680B1-DC31-4569-A5C6-16242FBD7FD5}" sibTransId="{3B435D29-A74C-4C76-AA1C-37AE92DCAB65}"/>
    <dgm:cxn modelId="{B5B9D302-2672-4715-9451-2701C15955C1}" type="presParOf" srcId="{8B1533B7-9CEA-4BA2-800D-E48958B08E7A}" destId="{C1229709-68FB-4D18-96A4-88D46DB8D067}" srcOrd="0" destOrd="0" presId="urn:microsoft.com/office/officeart/2018/2/layout/IconCircleList"/>
    <dgm:cxn modelId="{5DFA2A73-0F63-4FD4-A16A-BEE3D78D7828}" type="presParOf" srcId="{C1229709-68FB-4D18-96A4-88D46DB8D067}" destId="{DDFE19B6-FE25-4537-8948-70BA5BA28A6A}" srcOrd="0" destOrd="0" presId="urn:microsoft.com/office/officeart/2018/2/layout/IconCircleList"/>
    <dgm:cxn modelId="{ED44ACFC-8DE7-4123-90C7-BECFA0B67BCA}" type="presParOf" srcId="{DDFE19B6-FE25-4537-8948-70BA5BA28A6A}" destId="{52AD6352-A93D-4344-9210-E6C5C8D56ED3}" srcOrd="0" destOrd="0" presId="urn:microsoft.com/office/officeart/2018/2/layout/IconCircleList"/>
    <dgm:cxn modelId="{2286AFCD-8A4D-4CCC-A41E-448FCBB8FF30}" type="presParOf" srcId="{DDFE19B6-FE25-4537-8948-70BA5BA28A6A}" destId="{1C5E951B-0D73-41CF-AFB4-D8ECD7CEA18F}" srcOrd="1" destOrd="0" presId="urn:microsoft.com/office/officeart/2018/2/layout/IconCircleList"/>
    <dgm:cxn modelId="{4DF2D54A-4A4D-4D33-8203-47D12F261F4A}" type="presParOf" srcId="{DDFE19B6-FE25-4537-8948-70BA5BA28A6A}" destId="{E9D3A8E7-E7D5-4460-A6A5-B0A516FBD366}" srcOrd="2" destOrd="0" presId="urn:microsoft.com/office/officeart/2018/2/layout/IconCircleList"/>
    <dgm:cxn modelId="{76744BF5-DE2C-4E08-AFA9-9CD0663D6780}" type="presParOf" srcId="{DDFE19B6-FE25-4537-8948-70BA5BA28A6A}" destId="{FF412710-A69B-45FD-B57C-9226885444D8}" srcOrd="3" destOrd="0" presId="urn:microsoft.com/office/officeart/2018/2/layout/IconCircleList"/>
    <dgm:cxn modelId="{B4E2D71F-E927-4C20-95C4-1FF976B5B276}" type="presParOf" srcId="{C1229709-68FB-4D18-96A4-88D46DB8D067}" destId="{B641BFD6-73D5-4770-9B3E-799AB4675E75}" srcOrd="1" destOrd="0" presId="urn:microsoft.com/office/officeart/2018/2/layout/IconCircleList"/>
    <dgm:cxn modelId="{F74248EE-C8DC-401D-A283-9D1C3BB2CA84}" type="presParOf" srcId="{C1229709-68FB-4D18-96A4-88D46DB8D067}" destId="{06E8F496-64D1-4DE7-96BE-1EC87F4447F2}" srcOrd="2" destOrd="0" presId="urn:microsoft.com/office/officeart/2018/2/layout/IconCircleList"/>
    <dgm:cxn modelId="{AFB4636B-FC3B-4FDE-BC65-5610BACE5787}" type="presParOf" srcId="{06E8F496-64D1-4DE7-96BE-1EC87F4447F2}" destId="{FB4DC3D0-CDF0-48F1-B6E6-8DE5B5DEE234}" srcOrd="0" destOrd="0" presId="urn:microsoft.com/office/officeart/2018/2/layout/IconCircleList"/>
    <dgm:cxn modelId="{B6551D08-E35A-4AD5-B562-DB0E5AED5BEF}" type="presParOf" srcId="{06E8F496-64D1-4DE7-96BE-1EC87F4447F2}" destId="{512084A6-2044-4D55-A321-EDC6DCE6139A}" srcOrd="1" destOrd="0" presId="urn:microsoft.com/office/officeart/2018/2/layout/IconCircleList"/>
    <dgm:cxn modelId="{57A0717F-191F-4877-97E9-2C7324BC9D64}" type="presParOf" srcId="{06E8F496-64D1-4DE7-96BE-1EC87F4447F2}" destId="{740AE779-78CF-4C8E-97F9-C97799BDE9E7}" srcOrd="2" destOrd="0" presId="urn:microsoft.com/office/officeart/2018/2/layout/IconCircleList"/>
    <dgm:cxn modelId="{BDF6FEFB-A53A-4F5B-8B60-8811A10999BF}" type="presParOf" srcId="{06E8F496-64D1-4DE7-96BE-1EC87F4447F2}" destId="{972E3DAF-A72F-44FA-B68D-DA6C5BFB5E08}" srcOrd="3" destOrd="0" presId="urn:microsoft.com/office/officeart/2018/2/layout/IconCircleList"/>
    <dgm:cxn modelId="{CDF93C07-E63E-4C12-AF1B-7D0D42EB3E75}" type="presParOf" srcId="{C1229709-68FB-4D18-96A4-88D46DB8D067}" destId="{E1976611-655F-4E79-AF4C-D93D00CA66CA}" srcOrd="3" destOrd="0" presId="urn:microsoft.com/office/officeart/2018/2/layout/IconCircleList"/>
    <dgm:cxn modelId="{3FD89E15-1FBD-4BD1-B4EB-395EAB3CFED1}" type="presParOf" srcId="{C1229709-68FB-4D18-96A4-88D46DB8D067}" destId="{F9386D1A-CEFB-4392-9D2E-8A77B72A31EC}" srcOrd="4" destOrd="0" presId="urn:microsoft.com/office/officeart/2018/2/layout/IconCircleList"/>
    <dgm:cxn modelId="{5009CE84-6C46-4754-997A-5E6052600267}" type="presParOf" srcId="{F9386D1A-CEFB-4392-9D2E-8A77B72A31EC}" destId="{6D7F5632-A632-4C41-A40C-2351EDEDA64C}" srcOrd="0" destOrd="0" presId="urn:microsoft.com/office/officeart/2018/2/layout/IconCircleList"/>
    <dgm:cxn modelId="{F43C2540-23D5-4EC0-8129-5B3DF0298CA1}" type="presParOf" srcId="{F9386D1A-CEFB-4392-9D2E-8A77B72A31EC}" destId="{E69713B7-45C4-4E20-8830-0E974BFC9351}" srcOrd="1" destOrd="0" presId="urn:microsoft.com/office/officeart/2018/2/layout/IconCircleList"/>
    <dgm:cxn modelId="{230D5172-4010-4F14-A302-05992E8E70AB}" type="presParOf" srcId="{F9386D1A-CEFB-4392-9D2E-8A77B72A31EC}" destId="{6F62DD23-6143-4D19-A016-F71AD194A75A}" srcOrd="2" destOrd="0" presId="urn:microsoft.com/office/officeart/2018/2/layout/IconCircleList"/>
    <dgm:cxn modelId="{A3EBC7D2-B95A-49BF-BF87-6B7F17D82700}" type="presParOf" srcId="{F9386D1A-CEFB-4392-9D2E-8A77B72A31EC}" destId="{91E7FBA6-0A4C-41BE-862E-41CF24F1F43B}" srcOrd="3" destOrd="0" presId="urn:microsoft.com/office/officeart/2018/2/layout/IconCircleList"/>
    <dgm:cxn modelId="{05F59C31-C807-4629-8874-BE45386D0F82}" type="presParOf" srcId="{C1229709-68FB-4D18-96A4-88D46DB8D067}" destId="{1379FBC4-3444-4FF8-8966-55CC2AC0FA4B}" srcOrd="5" destOrd="0" presId="urn:microsoft.com/office/officeart/2018/2/layout/IconCircleList"/>
    <dgm:cxn modelId="{EB1AF2C7-B500-444E-A675-E488AF1BC7CA}" type="presParOf" srcId="{C1229709-68FB-4D18-96A4-88D46DB8D067}" destId="{464670BA-DAC2-4D9E-ADA8-BF4A1780075D}" srcOrd="6" destOrd="0" presId="urn:microsoft.com/office/officeart/2018/2/layout/IconCircleList"/>
    <dgm:cxn modelId="{6CD418B9-9449-462A-B3CE-BCAD192215F0}" type="presParOf" srcId="{464670BA-DAC2-4D9E-ADA8-BF4A1780075D}" destId="{89A9E9A5-850A-4DD5-8254-69B6521AA245}" srcOrd="0" destOrd="0" presId="urn:microsoft.com/office/officeart/2018/2/layout/IconCircleList"/>
    <dgm:cxn modelId="{6DC0B688-F363-4B80-9E64-70C97E4ACA46}" type="presParOf" srcId="{464670BA-DAC2-4D9E-ADA8-BF4A1780075D}" destId="{17018E3B-21F8-4900-A33F-9F3CD506771A}" srcOrd="1" destOrd="0" presId="urn:microsoft.com/office/officeart/2018/2/layout/IconCircleList"/>
    <dgm:cxn modelId="{1718E233-2009-4AD8-94A0-DBD85D7573D2}" type="presParOf" srcId="{464670BA-DAC2-4D9E-ADA8-BF4A1780075D}" destId="{E73CBA92-9D7B-4E94-9E39-F998E94AB527}" srcOrd="2" destOrd="0" presId="urn:microsoft.com/office/officeart/2018/2/layout/IconCircleList"/>
    <dgm:cxn modelId="{7E47B573-412E-40D1-AAB5-B4822931DEFF}" type="presParOf" srcId="{464670BA-DAC2-4D9E-ADA8-BF4A1780075D}" destId="{1E515883-34F1-4699-83AC-08385E01B33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AD6352-A93D-4344-9210-E6C5C8D56ED3}">
      <dsp:nvSpPr>
        <dsp:cNvPr id="0" name=""/>
        <dsp:cNvSpPr/>
      </dsp:nvSpPr>
      <dsp:spPr>
        <a:xfrm>
          <a:off x="282221" y="159118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5E951B-0D73-41CF-AFB4-D8ECD7CEA18F}">
      <dsp:nvSpPr>
        <dsp:cNvPr id="0" name=""/>
        <dsp:cNvSpPr/>
      </dsp:nvSpPr>
      <dsp:spPr>
        <a:xfrm>
          <a:off x="570337" y="447234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412710-A69B-45FD-B57C-9226885444D8}">
      <dsp:nvSpPr>
        <dsp:cNvPr id="0" name=""/>
        <dsp:cNvSpPr/>
      </dsp:nvSpPr>
      <dsp:spPr>
        <a:xfrm>
          <a:off x="1948202" y="159118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Optimized ultrasonic sensing</a:t>
          </a:r>
          <a:r>
            <a:rPr lang="en-US" sz="1900" b="0" i="0" kern="1200" baseline="0"/>
            <a:t> by reducing sensor timeout, resulting in faster distance acquisition and improved system responsiveness </a:t>
          </a:r>
          <a:endParaRPr lang="en-US" sz="1900" kern="1200"/>
        </a:p>
      </dsp:txBody>
      <dsp:txXfrm>
        <a:off x="1948202" y="159118"/>
        <a:ext cx="3233964" cy="1371985"/>
      </dsp:txXfrm>
    </dsp:sp>
    <dsp:sp modelId="{FB4DC3D0-CDF0-48F1-B6E6-8DE5B5DEE234}">
      <dsp:nvSpPr>
        <dsp:cNvPr id="0" name=""/>
        <dsp:cNvSpPr/>
      </dsp:nvSpPr>
      <dsp:spPr>
        <a:xfrm>
          <a:off x="5745661" y="159118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2084A6-2044-4D55-A321-EDC6DCE6139A}">
      <dsp:nvSpPr>
        <dsp:cNvPr id="0" name=""/>
        <dsp:cNvSpPr/>
      </dsp:nvSpPr>
      <dsp:spPr>
        <a:xfrm>
          <a:off x="6033778" y="447234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2E3DAF-A72F-44FA-B68D-DA6C5BFB5E08}">
      <dsp:nvSpPr>
        <dsp:cNvPr id="0" name=""/>
        <dsp:cNvSpPr/>
      </dsp:nvSpPr>
      <dsp:spPr>
        <a:xfrm>
          <a:off x="7411643" y="159118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Implemented non-blocking communication in Python</a:t>
          </a:r>
          <a:r>
            <a:rPr lang="en-US" sz="1900" b="0" i="0" kern="1200" baseline="0"/>
            <a:t>, ensuring continuous data flow without delays or system stalling</a:t>
          </a:r>
          <a:endParaRPr lang="en-US" sz="1900" kern="1200"/>
        </a:p>
      </dsp:txBody>
      <dsp:txXfrm>
        <a:off x="7411643" y="159118"/>
        <a:ext cx="3233964" cy="1371985"/>
      </dsp:txXfrm>
    </dsp:sp>
    <dsp:sp modelId="{6D7F5632-A632-4C41-A40C-2351EDEDA64C}">
      <dsp:nvSpPr>
        <dsp:cNvPr id="0" name=""/>
        <dsp:cNvSpPr/>
      </dsp:nvSpPr>
      <dsp:spPr>
        <a:xfrm>
          <a:off x="282221" y="2158301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9713B7-45C4-4E20-8830-0E974BFC9351}">
      <dsp:nvSpPr>
        <dsp:cNvPr id="0" name=""/>
        <dsp:cNvSpPr/>
      </dsp:nvSpPr>
      <dsp:spPr>
        <a:xfrm>
          <a:off x="570337" y="2446418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E7FBA6-0A4C-41BE-862E-41CF24F1F43B}">
      <dsp:nvSpPr>
        <dsp:cNvPr id="0" name=""/>
        <dsp:cNvSpPr/>
      </dsp:nvSpPr>
      <dsp:spPr>
        <a:xfrm>
          <a:off x="1948202" y="2158301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Enhanced QNX control loop performance</a:t>
          </a:r>
          <a:r>
            <a:rPr lang="en-US" sz="1900" b="0" i="0" kern="1200" baseline="0"/>
            <a:t>, enabling faster decision-making and improved real-time behavior</a:t>
          </a:r>
          <a:endParaRPr lang="en-US" sz="1900" kern="1200"/>
        </a:p>
      </dsp:txBody>
      <dsp:txXfrm>
        <a:off x="1948202" y="2158301"/>
        <a:ext cx="3233964" cy="1371985"/>
      </dsp:txXfrm>
    </dsp:sp>
    <dsp:sp modelId="{89A9E9A5-850A-4DD5-8254-69B6521AA245}">
      <dsp:nvSpPr>
        <dsp:cNvPr id="0" name=""/>
        <dsp:cNvSpPr/>
      </dsp:nvSpPr>
      <dsp:spPr>
        <a:xfrm>
          <a:off x="5745661" y="2158301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018E3B-21F8-4900-A33F-9F3CD506771A}">
      <dsp:nvSpPr>
        <dsp:cNvPr id="0" name=""/>
        <dsp:cNvSpPr/>
      </dsp:nvSpPr>
      <dsp:spPr>
        <a:xfrm>
          <a:off x="6033778" y="2446418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515883-34F1-4699-83AC-08385E01B336}">
      <dsp:nvSpPr>
        <dsp:cNvPr id="0" name=""/>
        <dsp:cNvSpPr/>
      </dsp:nvSpPr>
      <dsp:spPr>
        <a:xfrm>
          <a:off x="7411643" y="2158301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Refined serial data parsing mechanisms</a:t>
          </a:r>
          <a:r>
            <a:rPr lang="en-US" sz="1900" b="0" i="0" kern="1200" baseline="0"/>
            <a:t>, ensuring accurate and reliable interpretation of incoming data </a:t>
          </a:r>
          <a:endParaRPr lang="en-US" sz="1900" kern="1200"/>
        </a:p>
      </dsp:txBody>
      <dsp:txXfrm>
        <a:off x="7411643" y="2158301"/>
        <a:ext cx="3233964" cy="13719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A44AF5-D5E7-49AA-B81B-78943DE575CF}" type="datetimeFigureOut">
              <a:rPr lang="en-IN" smtClean="0"/>
              <a:t>28/04/26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0AFD49-D2D6-41A4-958F-A2C95A6DCB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518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0AFD49-D2D6-41A4-958F-A2C95A6DCB30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917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0AFD49-D2D6-41A4-958F-A2C95A6DCB30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15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9E1B4-AF8B-E595-FC15-0C2DB3EA23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F4E68F-FE6F-E385-1E11-C49630576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A6DE1-BC5A-C3EC-EFE3-734FAB28D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BEBF9-23E0-4D88-A9AD-CEEFE980F063}" type="datetimeFigureOut">
              <a:rPr lang="en-IN" smtClean="0"/>
              <a:t>28/04/26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E138D-8628-A81D-4469-9816F9AB2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7255F-9B01-D4CA-4009-BEE60F75A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33F66-94D9-482D-B9B1-188858449E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988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A0F43-2E03-B3AD-7E23-A08D88EBC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C5EC2-6B9F-5871-B2A1-4458BAF7C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3486F-6832-AF73-8021-FFF7BFFDB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BEBF9-23E0-4D88-A9AD-CEEFE980F063}" type="datetimeFigureOut">
              <a:rPr lang="en-IN" smtClean="0"/>
              <a:t>28/04/26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625A0-237F-A391-5482-7D957CA55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B76F9-1BBB-6682-244A-17DE4C95A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33F66-94D9-482D-B9B1-188858449E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520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57E32-A527-3EA1-A284-EF3DC3F26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6C479-C799-86C3-AB85-C153C6355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B1117-4C19-D7CB-2543-BC3422C43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BEBF9-23E0-4D88-A9AD-CEEFE980F063}" type="datetimeFigureOut">
              <a:rPr lang="en-IN" smtClean="0"/>
              <a:t>28/04/26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350DE-ED24-8843-DDE4-92D41A180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0DAE7-88BB-2117-7A99-EC0031059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33F66-94D9-482D-B9B1-188858449E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1525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17C37-C475-949C-BBBB-78611B141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C8F6B-7D6A-57CA-12FB-09EF645576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B26452-D86A-9C9D-7566-8208F2C134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A37E0-8098-6DD4-2FAD-89DC62BE8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BEBF9-23E0-4D88-A9AD-CEEFE980F063}" type="datetimeFigureOut">
              <a:rPr lang="en-IN" smtClean="0"/>
              <a:t>28/04/26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33933-9146-18CF-00F2-D739B6BD9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11B6EF-78EF-046F-4E18-310C21702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33F66-94D9-482D-B9B1-188858449E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9956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F03D-0B1C-43A4-55CB-4DC65D987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8F1DEA-F144-CA97-E4D0-44E881885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A20525-A7A6-3BF7-35A2-11C65BEA9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324FA2-2A5A-8872-DCB8-7C43E85915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F42EE6-BF4C-99C0-A1C4-2DDB990565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4DFAA1-2E0D-CD74-4EFA-1648BA448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BEBF9-23E0-4D88-A9AD-CEEFE980F063}" type="datetimeFigureOut">
              <a:rPr lang="en-IN" smtClean="0"/>
              <a:t>28/04/26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89FEBC-3EC2-5CB7-48AA-5D2BC3F68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8B5D27-69D3-CA82-6AE1-25DF6DD7C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33F66-94D9-482D-B9B1-188858449E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2281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CEFAD-E466-53FC-3686-E16E9357B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0AA7FB-876A-A830-78B3-26BDE8531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BEBF9-23E0-4D88-A9AD-CEEFE980F063}" type="datetimeFigureOut">
              <a:rPr lang="en-IN" smtClean="0"/>
              <a:t>28/04/26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0BD5B8-F95D-7827-0118-60D3EF47E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D4DDFF-6793-232E-9F88-595114B4F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33F66-94D9-482D-B9B1-188858449E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261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3A491B-E640-FEDB-1E16-3DCC7F8FE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BEBF9-23E0-4D88-A9AD-CEEFE980F063}" type="datetimeFigureOut">
              <a:rPr lang="en-IN" smtClean="0"/>
              <a:t>28/04/26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3FFF79-69EE-1657-6B9F-9A887BA38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001DF-3991-0D7D-ADB2-0A5B49297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33F66-94D9-482D-B9B1-188858449E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6251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23191-D5C3-B60F-8B9D-2D06836C4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ABB23-6FD2-D10F-D6B5-99B39B5E3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7C4C29-DDEA-DAE7-58BB-50A0746CBC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E8B2F7-37B8-BD98-B41B-C7076CFF8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BEBF9-23E0-4D88-A9AD-CEEFE980F063}" type="datetimeFigureOut">
              <a:rPr lang="en-IN" smtClean="0"/>
              <a:t>28/04/26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EA42A7-61FD-CB3A-A2D0-873B7735E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214106-EC87-2AF3-7AD6-2A7F3FA0E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33F66-94D9-482D-B9B1-188858449E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194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D3AE8-FF1F-0B7D-93E9-30B0FDAF5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BC5F2F-A33B-E168-944C-9A90F72E0E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076689-DF9A-49CA-6D1A-1E18E75A4A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894D5-02C3-9865-CCF9-6598ED78C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BEBF9-23E0-4D88-A9AD-CEEFE980F063}" type="datetimeFigureOut">
              <a:rPr lang="en-IN" smtClean="0"/>
              <a:t>28/04/26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E6443-0039-ED4F-9DF9-107FC2186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1AB7FB-D834-CC08-086E-0F053F7F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33F66-94D9-482D-B9B1-188858449E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2182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823E-E49F-590E-DF2E-764D2008D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C4B58C-6E6F-CBB1-AB5E-C92DE75225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9B001-4FA2-3783-F8D9-0DAEC4F08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BEBF9-23E0-4D88-A9AD-CEEFE980F063}" type="datetimeFigureOut">
              <a:rPr lang="en-IN" smtClean="0"/>
              <a:t>28/04/26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08757-6F8B-F52E-85E6-88B31049F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5EECD-8BE9-24B6-BB74-7F7B4B016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33F66-94D9-482D-B9B1-188858449E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834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8FF40F-5D08-641B-1E9A-14929689DC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F3BB57-881B-ABAB-0E2D-5876E06527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DCCBE-1C87-3010-8D6D-3262AFEC2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BEBF9-23E0-4D88-A9AD-CEEFE980F063}" type="datetimeFigureOut">
              <a:rPr lang="en-IN" smtClean="0"/>
              <a:t>28/04/26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24096-4666-9AF7-10A2-A8ED7100B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C9E95-B667-FD7F-39BB-22FBC05AC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33F66-94D9-482D-B9B1-188858449E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4067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E96BBF-964A-7525-7BC5-08188477B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DACEEF-81BB-6F30-B4F9-C69661C29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9B3A9-646D-62B6-86F3-8B51A8BA46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5BEBF9-23E0-4D88-A9AD-CEEFE980F063}" type="datetimeFigureOut">
              <a:rPr lang="en-IN" smtClean="0"/>
              <a:t>28/04/26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657DC-447A-0EEC-CDE9-ACA8CE1365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E1058-95F3-25C8-5148-FEEA0BF87C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33F66-94D9-482D-B9B1-188858449E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313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37AB63CA-6B3F-7ED6-8AB5-7CD597420198}"/>
              </a:ext>
            </a:extLst>
          </p:cNvPr>
          <p:cNvSpPr/>
          <p:nvPr/>
        </p:nvSpPr>
        <p:spPr>
          <a:xfrm>
            <a:off x="221524" y="1232365"/>
            <a:ext cx="11786700" cy="2592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9800"/>
              </a:lnSpc>
            </a:pPr>
            <a:r>
              <a:rPr lang="en-IN" sz="7200" dirty="0"/>
              <a:t>Driver Assisted Adaptive Cruise Control using QNX</a:t>
            </a:r>
            <a:endParaRPr lang="en-US" sz="7200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48629847-BDAD-C912-8600-4F4C9B4EF1C4}"/>
              </a:ext>
            </a:extLst>
          </p:cNvPr>
          <p:cNvSpPr/>
          <p:nvPr/>
        </p:nvSpPr>
        <p:spPr>
          <a:xfrm>
            <a:off x="121023" y="3964846"/>
            <a:ext cx="11954436" cy="2328377"/>
          </a:xfrm>
          <a:prstGeom prst="roundRect">
            <a:avLst>
              <a:gd name="adj" fmla="val 13285"/>
            </a:avLst>
          </a:prstGeom>
          <a:solidFill>
            <a:srgbClr val="D4F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C7F1B1-B1E9-4DF2-B289-A5ADFF5038AD}"/>
              </a:ext>
            </a:extLst>
          </p:cNvPr>
          <p:cNvSpPr/>
          <p:nvPr/>
        </p:nvSpPr>
        <p:spPr>
          <a:xfrm>
            <a:off x="322731" y="4235823"/>
            <a:ext cx="5620871" cy="177359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800" dirty="0"/>
              <a:t>Team Member :</a:t>
            </a:r>
          </a:p>
          <a:p>
            <a:r>
              <a:rPr lang="en-IN" sz="2800" dirty="0"/>
              <a:t>Abde Ali(RA2311005010054)</a:t>
            </a:r>
          </a:p>
          <a:p>
            <a:r>
              <a:rPr lang="en-IN" sz="2800" dirty="0"/>
              <a:t>Ansh Srivastava(RA2311005010056)</a:t>
            </a:r>
          </a:p>
          <a:p>
            <a:r>
              <a:rPr lang="en-IN" sz="2800" dirty="0"/>
              <a:t>Lathief Hussain (RA2311005010058</a:t>
            </a:r>
            <a:r>
              <a:rPr lang="en-IN" dirty="0"/>
              <a:t>)</a:t>
            </a:r>
          </a:p>
        </p:txBody>
      </p:sp>
      <p:pic>
        <p:nvPicPr>
          <p:cNvPr id="1026" name="Picture 2" descr="SRM Institute of Science and Technology - Wikipedia">
            <a:extLst>
              <a:ext uri="{FF2B5EF4-FFF2-40B4-BE49-F238E27FC236}">
                <a16:creationId xmlns:a16="http://schemas.microsoft.com/office/drawing/2014/main" id="{6BCB5121-181F-9D05-4962-1222F553F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8153" y="0"/>
            <a:ext cx="3213847" cy="1089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C930B29-91AE-C552-AB55-928581516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8803" y="-430306"/>
            <a:ext cx="3101321" cy="1906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5004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2" name="Title 1">
            <a:extLst>
              <a:ext uri="{FF2B5EF4-FFF2-40B4-BE49-F238E27FC236}">
                <a16:creationId xmlns:a16="http://schemas.microsoft.com/office/drawing/2014/main" id="{E20BB899-E160-6DA1-0DB8-7F340E750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9D8F5DD2-CFB0-16A0-7AFA-65A847D9B6B7}"/>
              </a:ext>
            </a:extLst>
          </p:cNvPr>
          <p:cNvSpPr txBox="1">
            <a:spLocks/>
          </p:cNvSpPr>
          <p:nvPr/>
        </p:nvSpPr>
        <p:spPr>
          <a:xfrm>
            <a:off x="6172200" y="804672"/>
            <a:ext cx="5221224" cy="52303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The evolution of intelligent transportation systems has redefined the expectations of modern vehicle control — demanding solutions that are not only automated, but also adaptive, responsive, and situationally aware.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marL="5715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Traditional cruise control systems operate at a fixed speed and do not consider real-time environmental conditions, making them unsuitable for dynamic scenarios. 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marL="5715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Adaptive speed control systems overcome this limitation by continuously monitoring the surroundings (using sensors) and adjusting vehicle speed accordingly. 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marL="5715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The integration of embedded systems with real-time operating systems (RTOS) enables fast, deterministic, and reliable decision-making, which is essential for such applications. </a:t>
            </a:r>
          </a:p>
          <a:p>
            <a:pPr marL="5715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marL="5715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b="1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14C3442E-F9A9-3358-C515-EF429E500CA8}"/>
              </a:ext>
            </a:extLst>
          </p:cNvPr>
          <p:cNvSpPr txBox="1">
            <a:spLocks/>
          </p:cNvSpPr>
          <p:nvPr/>
        </p:nvSpPr>
        <p:spPr>
          <a:xfrm>
            <a:off x="412375" y="1552948"/>
            <a:ext cx="6983507" cy="4511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083301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40DEB7-CEFC-4327-7B75-821998FD0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IN" sz="400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7AD06-810D-4C42-362D-54D671B10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1100" b="1">
                <a:latin typeface="Times New Roman" panose="02020603050405020304" pitchFamily="18" charset="0"/>
                <a:cs typeface="Times New Roman" panose="02020603050405020304" pitchFamily="18" charset="0"/>
              </a:rPr>
              <a:t>Primary Goal:</a:t>
            </a:r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 To design, develop, and validate a Driver assisted  Adaptive Cruise Control (DACC) system for a robotic vehicle platform, leveraging real-time embedded architecture for intelligent, sensor-driven speed regulation.</a:t>
            </a:r>
          </a:p>
          <a:p>
            <a:r>
              <a:rPr lang="en-US" sz="1100" b="1">
                <a:latin typeface="Times New Roman" panose="02020603050405020304" pitchFamily="18" charset="0"/>
                <a:cs typeface="Times New Roman" panose="02020603050405020304" pitchFamily="18" charset="0"/>
              </a:rPr>
              <a:t>Real-Time Speed Control</a:t>
            </a:r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 Implement precise and responsive vehicle speed control using QNX RTOS, ensuring deterministic and time-critical performance.</a:t>
            </a:r>
          </a:p>
          <a:p>
            <a:r>
              <a:rPr lang="en-US" sz="1100" b="1">
                <a:latin typeface="Times New Roman" panose="02020603050405020304" pitchFamily="18" charset="0"/>
                <a:cs typeface="Times New Roman" panose="02020603050405020304" pitchFamily="18" charset="0"/>
              </a:rPr>
              <a:t>Obstacle Detection</a:t>
            </a:r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 Integrate an ultrasonic sensor to continuously measure the distance between the vehicle and surrounding obstacles, enabling proactive hazard awareness.</a:t>
            </a:r>
          </a:p>
          <a:p>
            <a:r>
              <a:rPr lang="en-US" sz="1100" b="1">
                <a:latin typeface="Times New Roman" panose="02020603050405020304" pitchFamily="18" charset="0"/>
                <a:cs typeface="Times New Roman" panose="02020603050405020304" pitchFamily="18" charset="0"/>
              </a:rPr>
              <a:t>Dynamic Speed Adjustment</a:t>
            </a:r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 Develop a control algorithm that dynamically modulates vehicle speed in response to real-time environmental conditions and proximity data.</a:t>
            </a:r>
          </a:p>
          <a:p>
            <a:r>
              <a:rPr lang="en-US" sz="1100" b="1">
                <a:latin typeface="Times New Roman" panose="02020603050405020304" pitchFamily="18" charset="0"/>
                <a:cs typeface="Times New Roman" panose="02020603050405020304" pitchFamily="18" charset="0"/>
              </a:rPr>
              <a:t>System Integration</a:t>
            </a:r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 Establish seamless communication and coordinated control across Arduino, Python, and QNX platforms for efficient, multi-layer system operation.</a:t>
            </a:r>
          </a:p>
          <a:p>
            <a:r>
              <a:rPr lang="en-US" sz="1100" b="1">
                <a:latin typeface="Times New Roman" panose="02020603050405020304" pitchFamily="18" charset="0"/>
                <a:cs typeface="Times New Roman" panose="02020603050405020304" pitchFamily="18" charset="0"/>
              </a:rPr>
              <a:t>Safety &amp; Reliability</a:t>
            </a:r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 Enhance overall system safety, operational reliability, and responsiveness ensuring robust performance across varied and unpredictable driving scenarios.</a:t>
            </a:r>
          </a:p>
          <a:p>
            <a:endParaRPr lang="en-IN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B7652E-A2E0-99E6-3E0C-AF07D5229B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536" r="23063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940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89C5E17-24D0-4696-A3C5-A2261FB45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29B58F-2358-44CC-ACE5-EF1BD3C6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D1A156-6E64-5940-58A3-4DB6E3C28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Problem Statement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9DA5303-A1AF-4830-806C-51FCD9618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97348" y="5285"/>
            <a:ext cx="7294653" cy="6858000"/>
            <a:chOff x="4897348" y="-5799"/>
            <a:chExt cx="7294653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FAAA8C8-4EB7-45F1-BF24-3EF0F4DC4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97348" y="-5798"/>
              <a:ext cx="7294652" cy="6857999"/>
            </a:xfrm>
            <a:custGeom>
              <a:avLst/>
              <a:gdLst>
                <a:gd name="connsiteX0" fmla="*/ 7294652 w 7294652"/>
                <a:gd name="connsiteY0" fmla="*/ 6063030 h 6857999"/>
                <a:gd name="connsiteX1" fmla="*/ 7294652 w 7294652"/>
                <a:gd name="connsiteY1" fmla="*/ 6857999 h 6857999"/>
                <a:gd name="connsiteX2" fmla="*/ 6248575 w 7294652"/>
                <a:gd name="connsiteY2" fmla="*/ 6857999 h 6857999"/>
                <a:gd name="connsiteX3" fmla="*/ 6477898 w 7294652"/>
                <a:gd name="connsiteY3" fmla="*/ 6700973 h 6857999"/>
                <a:gd name="connsiteX4" fmla="*/ 6647884 w 7294652"/>
                <a:gd name="connsiteY4" fmla="*/ 6572752 h 6857999"/>
                <a:gd name="connsiteX5" fmla="*/ 6817698 w 7294652"/>
                <a:gd name="connsiteY5" fmla="*/ 6440235 h 6857999"/>
                <a:gd name="connsiteX6" fmla="*/ 7161451 w 7294652"/>
                <a:gd name="connsiteY6" fmla="*/ 6165232 h 6857999"/>
                <a:gd name="connsiteX7" fmla="*/ 1673436 w 7294652"/>
                <a:gd name="connsiteY7" fmla="*/ 0 h 6857999"/>
                <a:gd name="connsiteX8" fmla="*/ 2394951 w 7294652"/>
                <a:gd name="connsiteY8" fmla="*/ 0 h 6857999"/>
                <a:gd name="connsiteX9" fmla="*/ 2244659 w 7294652"/>
                <a:gd name="connsiteY9" fmla="*/ 100763 h 6857999"/>
                <a:gd name="connsiteX10" fmla="*/ 1743903 w 7294652"/>
                <a:gd name="connsiteY10" fmla="*/ 498975 h 6857999"/>
                <a:gd name="connsiteX11" fmla="*/ 1163821 w 7294652"/>
                <a:gd name="connsiteY11" fmla="*/ 1121514 h 6857999"/>
                <a:gd name="connsiteX12" fmla="*/ 704911 w 7294652"/>
                <a:gd name="connsiteY12" fmla="*/ 1837036 h 6857999"/>
                <a:gd name="connsiteX13" fmla="*/ 393472 w 7294652"/>
                <a:gd name="connsiteY13" fmla="*/ 2627669 h 6857999"/>
                <a:gd name="connsiteX14" fmla="*/ 280032 w 7294652"/>
                <a:gd name="connsiteY14" fmla="*/ 3472097 h 6857999"/>
                <a:gd name="connsiteX15" fmla="*/ 327813 w 7294652"/>
                <a:gd name="connsiteY15" fmla="*/ 3884602 h 6857999"/>
                <a:gd name="connsiteX16" fmla="*/ 469096 w 7294652"/>
                <a:gd name="connsiteY16" fmla="*/ 4270809 h 6857999"/>
                <a:gd name="connsiteX17" fmla="*/ 567581 w 7294652"/>
                <a:gd name="connsiteY17" fmla="*/ 4452482 h 6857999"/>
                <a:gd name="connsiteX18" fmla="*/ 680677 w 7294652"/>
                <a:gd name="connsiteY18" fmla="*/ 4628484 h 6857999"/>
                <a:gd name="connsiteX19" fmla="*/ 941928 w 7294652"/>
                <a:gd name="connsiteY19" fmla="*/ 4968628 h 6857999"/>
                <a:gd name="connsiteX20" fmla="*/ 1224665 w 7294652"/>
                <a:gd name="connsiteY20" fmla="*/ 5311349 h 6857999"/>
                <a:gd name="connsiteX21" fmla="*/ 1365259 w 7294652"/>
                <a:gd name="connsiteY21" fmla="*/ 5490273 h 6857999"/>
                <a:gd name="connsiteX22" fmla="*/ 1432808 w 7294652"/>
                <a:gd name="connsiteY22" fmla="*/ 5577931 h 6857999"/>
                <a:gd name="connsiteX23" fmla="*/ 1498980 w 7294652"/>
                <a:gd name="connsiteY23" fmla="*/ 5662148 h 6857999"/>
                <a:gd name="connsiteX24" fmla="*/ 2067548 w 7294652"/>
                <a:gd name="connsiteY24" fmla="*/ 6283312 h 6857999"/>
                <a:gd name="connsiteX25" fmla="*/ 2369879 w 7294652"/>
                <a:gd name="connsiteY25" fmla="*/ 6562782 h 6857999"/>
                <a:gd name="connsiteX26" fmla="*/ 2686645 w 7294652"/>
                <a:gd name="connsiteY26" fmla="*/ 6820598 h 6857999"/>
                <a:gd name="connsiteX27" fmla="*/ 2738907 w 7294652"/>
                <a:gd name="connsiteY27" fmla="*/ 6857999 h 6857999"/>
                <a:gd name="connsiteX28" fmla="*/ 1731787 w 7294652"/>
                <a:gd name="connsiteY28" fmla="*/ 6857999 h 6857999"/>
                <a:gd name="connsiteX29" fmla="*/ 1607949 w 7294652"/>
                <a:gd name="connsiteY29" fmla="*/ 6732770 h 6857999"/>
                <a:gd name="connsiteX30" fmla="*/ 1309057 w 7294652"/>
                <a:gd name="connsiteY30" fmla="*/ 6370109 h 6857999"/>
                <a:gd name="connsiteX31" fmla="*/ 1048147 w 7294652"/>
                <a:gd name="connsiteY31" fmla="*/ 5986138 h 6857999"/>
                <a:gd name="connsiteX32" fmla="*/ 987131 w 7294652"/>
                <a:gd name="connsiteY32" fmla="*/ 5888512 h 6857999"/>
                <a:gd name="connsiteX33" fmla="*/ 928866 w 7294652"/>
                <a:gd name="connsiteY33" fmla="*/ 5793463 h 6857999"/>
                <a:gd name="connsiteX34" fmla="*/ 813708 w 7294652"/>
                <a:gd name="connsiteY34" fmla="*/ 5609556 h 6857999"/>
                <a:gd name="connsiteX35" fmla="*/ 574972 w 7294652"/>
                <a:gd name="connsiteY35" fmla="*/ 5231598 h 6857999"/>
                <a:gd name="connsiteX36" fmla="*/ 342424 w 7294652"/>
                <a:gd name="connsiteY36" fmla="*/ 4834048 h 6857999"/>
                <a:gd name="connsiteX37" fmla="*/ 237579 w 7294652"/>
                <a:gd name="connsiteY37" fmla="*/ 4623500 h 6857999"/>
                <a:gd name="connsiteX38" fmla="*/ 148373 w 7294652"/>
                <a:gd name="connsiteY38" fmla="*/ 4404356 h 6857999"/>
                <a:gd name="connsiteX39" fmla="*/ 79623 w 7294652"/>
                <a:gd name="connsiteY39" fmla="*/ 4175762 h 6857999"/>
                <a:gd name="connsiteX40" fmla="*/ 54185 w 7294652"/>
                <a:gd name="connsiteY40" fmla="*/ 4059229 h 6857999"/>
                <a:gd name="connsiteX41" fmla="*/ 43013 w 7294652"/>
                <a:gd name="connsiteY41" fmla="*/ 4000790 h 6857999"/>
                <a:gd name="connsiteX42" fmla="*/ 33734 w 7294652"/>
                <a:gd name="connsiteY42" fmla="*/ 3942180 h 6857999"/>
                <a:gd name="connsiteX43" fmla="*/ 45 w 7294652"/>
                <a:gd name="connsiteY43" fmla="*/ 3472097 h 6857999"/>
                <a:gd name="connsiteX44" fmla="*/ 95436 w 7294652"/>
                <a:gd name="connsiteY44" fmla="*/ 2557372 h 6857999"/>
                <a:gd name="connsiteX45" fmla="*/ 382126 w 7294652"/>
                <a:gd name="connsiteY45" fmla="*/ 1680799 h 6857999"/>
                <a:gd name="connsiteX46" fmla="*/ 1457043 w 7294652"/>
                <a:gd name="connsiteY46" fmla="*/ 192176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294652" h="6857999">
                  <a:moveTo>
                    <a:pt x="7294652" y="6063030"/>
                  </a:moveTo>
                  <a:lnTo>
                    <a:pt x="7294652" y="6857999"/>
                  </a:lnTo>
                  <a:lnTo>
                    <a:pt x="6248575" y="6857999"/>
                  </a:lnTo>
                  <a:lnTo>
                    <a:pt x="6477898" y="6700973"/>
                  </a:lnTo>
                  <a:cubicBezTo>
                    <a:pt x="6534790" y="6659378"/>
                    <a:pt x="6591336" y="6616237"/>
                    <a:pt x="6647884" y="6572752"/>
                  </a:cubicBezTo>
                  <a:cubicBezTo>
                    <a:pt x="6704432" y="6529268"/>
                    <a:pt x="6761151" y="6485095"/>
                    <a:pt x="6817698" y="6440235"/>
                  </a:cubicBezTo>
                  <a:lnTo>
                    <a:pt x="7161451" y="6165232"/>
                  </a:lnTo>
                  <a:close/>
                  <a:moveTo>
                    <a:pt x="1673436" y="0"/>
                  </a:moveTo>
                  <a:lnTo>
                    <a:pt x="2394951" y="0"/>
                  </a:lnTo>
                  <a:lnTo>
                    <a:pt x="2244659" y="100763"/>
                  </a:lnTo>
                  <a:cubicBezTo>
                    <a:pt x="2071051" y="224086"/>
                    <a:pt x="1903860" y="356975"/>
                    <a:pt x="1743903" y="498975"/>
                  </a:cubicBezTo>
                  <a:cubicBezTo>
                    <a:pt x="1533218" y="689638"/>
                    <a:pt x="1339146" y="897902"/>
                    <a:pt x="1163821" y="1121514"/>
                  </a:cubicBezTo>
                  <a:cubicBezTo>
                    <a:pt x="988284" y="1344764"/>
                    <a:pt x="834608" y="1584376"/>
                    <a:pt x="704911" y="1837036"/>
                  </a:cubicBezTo>
                  <a:cubicBezTo>
                    <a:pt x="573950" y="2089059"/>
                    <a:pt x="469577" y="2354041"/>
                    <a:pt x="393472" y="2627669"/>
                  </a:cubicBezTo>
                  <a:cubicBezTo>
                    <a:pt x="318269" y="2902842"/>
                    <a:pt x="280119" y="3186833"/>
                    <a:pt x="280032" y="3472097"/>
                  </a:cubicBezTo>
                  <a:cubicBezTo>
                    <a:pt x="280349" y="3610956"/>
                    <a:pt x="296380" y="3749334"/>
                    <a:pt x="327813" y="3884602"/>
                  </a:cubicBezTo>
                  <a:cubicBezTo>
                    <a:pt x="360878" y="4018046"/>
                    <a:pt x="408244" y="4147540"/>
                    <a:pt x="469096" y="4270809"/>
                  </a:cubicBezTo>
                  <a:cubicBezTo>
                    <a:pt x="499175" y="4332511"/>
                    <a:pt x="532347" y="4393012"/>
                    <a:pt x="567581" y="4452482"/>
                  </a:cubicBezTo>
                  <a:cubicBezTo>
                    <a:pt x="602815" y="4511953"/>
                    <a:pt x="641144" y="4570562"/>
                    <a:pt x="680677" y="4628484"/>
                  </a:cubicBezTo>
                  <a:cubicBezTo>
                    <a:pt x="760771" y="4743985"/>
                    <a:pt x="849802" y="4856048"/>
                    <a:pt x="941928" y="4968628"/>
                  </a:cubicBezTo>
                  <a:cubicBezTo>
                    <a:pt x="1034055" y="5081206"/>
                    <a:pt x="1130994" y="5193958"/>
                    <a:pt x="1224665" y="5311349"/>
                  </a:cubicBezTo>
                  <a:cubicBezTo>
                    <a:pt x="1271987" y="5369787"/>
                    <a:pt x="1318853" y="5429429"/>
                    <a:pt x="1365259" y="5490273"/>
                  </a:cubicBezTo>
                  <a:lnTo>
                    <a:pt x="1432808" y="5577931"/>
                  </a:lnTo>
                  <a:cubicBezTo>
                    <a:pt x="1454979" y="5605947"/>
                    <a:pt x="1476121" y="5634821"/>
                    <a:pt x="1498980" y="5662148"/>
                  </a:cubicBezTo>
                  <a:cubicBezTo>
                    <a:pt x="1676323" y="5880038"/>
                    <a:pt x="1866158" y="6087441"/>
                    <a:pt x="2067548" y="6283312"/>
                  </a:cubicBezTo>
                  <a:cubicBezTo>
                    <a:pt x="2166203" y="6379907"/>
                    <a:pt x="2266974" y="6473064"/>
                    <a:pt x="2369879" y="6562782"/>
                  </a:cubicBezTo>
                  <a:cubicBezTo>
                    <a:pt x="2473005" y="6652331"/>
                    <a:pt x="2577677" y="6738957"/>
                    <a:pt x="2686645" y="6820598"/>
                  </a:cubicBezTo>
                  <a:lnTo>
                    <a:pt x="2738907" y="6857999"/>
                  </a:lnTo>
                  <a:lnTo>
                    <a:pt x="1731787" y="6857999"/>
                  </a:lnTo>
                  <a:lnTo>
                    <a:pt x="1607949" y="6732770"/>
                  </a:lnTo>
                  <a:cubicBezTo>
                    <a:pt x="1501232" y="6617903"/>
                    <a:pt x="1401421" y="6496799"/>
                    <a:pt x="1309057" y="6370109"/>
                  </a:cubicBezTo>
                  <a:cubicBezTo>
                    <a:pt x="1217103" y="6244469"/>
                    <a:pt x="1129618" y="6116590"/>
                    <a:pt x="1048147" y="5986138"/>
                  </a:cubicBezTo>
                  <a:cubicBezTo>
                    <a:pt x="1027179" y="5953825"/>
                    <a:pt x="1007414" y="5920996"/>
                    <a:pt x="987131" y="5888512"/>
                  </a:cubicBezTo>
                  <a:lnTo>
                    <a:pt x="928866" y="5793463"/>
                  </a:lnTo>
                  <a:cubicBezTo>
                    <a:pt x="891568" y="5732276"/>
                    <a:pt x="852725" y="5671260"/>
                    <a:pt x="813708" y="5609556"/>
                  </a:cubicBezTo>
                  <a:lnTo>
                    <a:pt x="574972" y="5231598"/>
                  </a:lnTo>
                  <a:cubicBezTo>
                    <a:pt x="495221" y="5103551"/>
                    <a:pt x="416158" y="4971549"/>
                    <a:pt x="342424" y="4834048"/>
                  </a:cubicBezTo>
                  <a:cubicBezTo>
                    <a:pt x="305641" y="4765298"/>
                    <a:pt x="270236" y="4695343"/>
                    <a:pt x="237579" y="4623500"/>
                  </a:cubicBezTo>
                  <a:cubicBezTo>
                    <a:pt x="204922" y="4551655"/>
                    <a:pt x="175187" y="4478607"/>
                    <a:pt x="148373" y="4404356"/>
                  </a:cubicBezTo>
                  <a:cubicBezTo>
                    <a:pt x="121561" y="4330107"/>
                    <a:pt x="99046" y="4252934"/>
                    <a:pt x="79623" y="4175762"/>
                  </a:cubicBezTo>
                  <a:cubicBezTo>
                    <a:pt x="70514" y="4136916"/>
                    <a:pt x="61577" y="4098245"/>
                    <a:pt x="54185" y="4059229"/>
                  </a:cubicBezTo>
                  <a:lnTo>
                    <a:pt x="43013" y="4000790"/>
                  </a:lnTo>
                  <a:lnTo>
                    <a:pt x="33734" y="3942180"/>
                  </a:lnTo>
                  <a:cubicBezTo>
                    <a:pt x="10461" y="3786581"/>
                    <a:pt x="-801" y="3629416"/>
                    <a:pt x="45" y="3472097"/>
                  </a:cubicBezTo>
                  <a:cubicBezTo>
                    <a:pt x="863" y="3164748"/>
                    <a:pt x="32824" y="2858275"/>
                    <a:pt x="95436" y="2557372"/>
                  </a:cubicBezTo>
                  <a:cubicBezTo>
                    <a:pt x="157549" y="2255281"/>
                    <a:pt x="253728" y="1961216"/>
                    <a:pt x="382126" y="1680799"/>
                  </a:cubicBezTo>
                  <a:cubicBezTo>
                    <a:pt x="639940" y="1120482"/>
                    <a:pt x="1015492" y="619117"/>
                    <a:pt x="1457043" y="192176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77FC097-E4F2-4A45-82E8-3808FA553C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0650" y="-5799"/>
              <a:ext cx="7291350" cy="6858000"/>
            </a:xfrm>
            <a:custGeom>
              <a:avLst/>
              <a:gdLst>
                <a:gd name="connsiteX0" fmla="*/ 7291350 w 7291350"/>
                <a:gd name="connsiteY0" fmla="*/ 5718699 h 6858000"/>
                <a:gd name="connsiteX1" fmla="*/ 7291350 w 7291350"/>
                <a:gd name="connsiteY1" fmla="*/ 6806115 h 6858000"/>
                <a:gd name="connsiteX2" fmla="*/ 7224124 w 7291350"/>
                <a:gd name="connsiteY2" fmla="*/ 6858000 h 6858000"/>
                <a:gd name="connsiteX3" fmla="*/ 5607142 w 7291350"/>
                <a:gd name="connsiteY3" fmla="*/ 6858000 h 6858000"/>
                <a:gd name="connsiteX4" fmla="*/ 5736072 w 7291350"/>
                <a:gd name="connsiteY4" fmla="*/ 6801170 h 6858000"/>
                <a:gd name="connsiteX5" fmla="*/ 6949826 w 7291350"/>
                <a:gd name="connsiteY5" fmla="*/ 5983707 h 6858000"/>
                <a:gd name="connsiteX6" fmla="*/ 7220703 w 7291350"/>
                <a:gd name="connsiteY6" fmla="*/ 5773675 h 6858000"/>
                <a:gd name="connsiteX7" fmla="*/ 7218419 w 7291350"/>
                <a:gd name="connsiteY7" fmla="*/ 0 h 6858000"/>
                <a:gd name="connsiteX8" fmla="*/ 7291350 w 7291350"/>
                <a:gd name="connsiteY8" fmla="*/ 0 h 6858000"/>
                <a:gd name="connsiteX9" fmla="*/ 7291350 w 7291350"/>
                <a:gd name="connsiteY9" fmla="*/ 50138 h 6858000"/>
                <a:gd name="connsiteX10" fmla="*/ 1797607 w 7291350"/>
                <a:gd name="connsiteY10" fmla="*/ 0 h 6858000"/>
                <a:gd name="connsiteX11" fmla="*/ 3385676 w 7291350"/>
                <a:gd name="connsiteY11" fmla="*/ 0 h 6858000"/>
                <a:gd name="connsiteX12" fmla="*/ 3360567 w 7291350"/>
                <a:gd name="connsiteY12" fmla="*/ 11552 h 6858000"/>
                <a:gd name="connsiteX13" fmla="*/ 2267395 w 7291350"/>
                <a:gd name="connsiteY13" fmla="*/ 725831 h 6858000"/>
                <a:gd name="connsiteX14" fmla="*/ 1234074 w 7291350"/>
                <a:gd name="connsiteY14" fmla="*/ 2007171 h 6858000"/>
                <a:gd name="connsiteX15" fmla="*/ 859383 w 7291350"/>
                <a:gd name="connsiteY15" fmla="*/ 3498372 h 6858000"/>
                <a:gd name="connsiteX16" fmla="*/ 1479513 w 7291350"/>
                <a:gd name="connsiteY16" fmla="*/ 4883182 h 6858000"/>
                <a:gd name="connsiteX17" fmla="*/ 1791985 w 7291350"/>
                <a:gd name="connsiteY17" fmla="*/ 5322671 h 6858000"/>
                <a:gd name="connsiteX18" fmla="*/ 3397295 w 7291350"/>
                <a:gd name="connsiteY18" fmla="*/ 6784567 h 6858000"/>
                <a:gd name="connsiteX19" fmla="*/ 3590446 w 7291350"/>
                <a:gd name="connsiteY19" fmla="*/ 6858000 h 6858000"/>
                <a:gd name="connsiteX20" fmla="*/ 1970757 w 7291350"/>
                <a:gd name="connsiteY20" fmla="*/ 6858000 h 6858000"/>
                <a:gd name="connsiteX21" fmla="*/ 1735872 w 7291350"/>
                <a:gd name="connsiteY21" fmla="*/ 6627685 h 6858000"/>
                <a:gd name="connsiteX22" fmla="*/ 1080932 w 7291350"/>
                <a:gd name="connsiteY22" fmla="*/ 5805127 h 6858000"/>
                <a:gd name="connsiteX23" fmla="*/ 0 w 7291350"/>
                <a:gd name="connsiteY23" fmla="*/ 3498372 h 6858000"/>
                <a:gd name="connsiteX24" fmla="*/ 1708174 w 7291350"/>
                <a:gd name="connsiteY24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291350" h="6858000">
                  <a:moveTo>
                    <a:pt x="7291350" y="5718699"/>
                  </a:moveTo>
                  <a:lnTo>
                    <a:pt x="7291350" y="6806115"/>
                  </a:lnTo>
                  <a:lnTo>
                    <a:pt x="7224124" y="6858000"/>
                  </a:lnTo>
                  <a:lnTo>
                    <a:pt x="5607142" y="6858000"/>
                  </a:lnTo>
                  <a:lnTo>
                    <a:pt x="5736072" y="6801170"/>
                  </a:lnTo>
                  <a:cubicBezTo>
                    <a:pt x="6122313" y="6616106"/>
                    <a:pt x="6503069" y="6332805"/>
                    <a:pt x="6949826" y="5983707"/>
                  </a:cubicBezTo>
                  <a:cubicBezTo>
                    <a:pt x="7041094" y="5912378"/>
                    <a:pt x="7132358" y="5842426"/>
                    <a:pt x="7220703" y="5773675"/>
                  </a:cubicBezTo>
                  <a:close/>
                  <a:moveTo>
                    <a:pt x="7218419" y="0"/>
                  </a:moveTo>
                  <a:lnTo>
                    <a:pt x="7291350" y="0"/>
                  </a:lnTo>
                  <a:lnTo>
                    <a:pt x="7291350" y="50138"/>
                  </a:lnTo>
                  <a:close/>
                  <a:moveTo>
                    <a:pt x="1797607" y="0"/>
                  </a:moveTo>
                  <a:lnTo>
                    <a:pt x="3385676" y="0"/>
                  </a:lnTo>
                  <a:lnTo>
                    <a:pt x="3360567" y="11552"/>
                  </a:lnTo>
                  <a:cubicBezTo>
                    <a:pt x="2968013" y="202286"/>
                    <a:pt x="2600620" y="442170"/>
                    <a:pt x="2267395" y="725831"/>
                  </a:cubicBezTo>
                  <a:cubicBezTo>
                    <a:pt x="1824986" y="1104820"/>
                    <a:pt x="1477279" y="1536057"/>
                    <a:pt x="1234074" y="2007171"/>
                  </a:cubicBezTo>
                  <a:cubicBezTo>
                    <a:pt x="985368" y="2488770"/>
                    <a:pt x="859383" y="2990476"/>
                    <a:pt x="859383" y="3498372"/>
                  </a:cubicBezTo>
                  <a:cubicBezTo>
                    <a:pt x="859383" y="4010222"/>
                    <a:pt x="1060651" y="4308942"/>
                    <a:pt x="1479513" y="4883182"/>
                  </a:cubicBezTo>
                  <a:cubicBezTo>
                    <a:pt x="1580577" y="5021714"/>
                    <a:pt x="1685078" y="5164888"/>
                    <a:pt x="1791985" y="5322671"/>
                  </a:cubicBezTo>
                  <a:cubicBezTo>
                    <a:pt x="2283419" y="6046950"/>
                    <a:pt x="2796809" y="6521439"/>
                    <a:pt x="3397295" y="6784567"/>
                  </a:cubicBezTo>
                  <a:lnTo>
                    <a:pt x="3590446" y="6858000"/>
                  </a:lnTo>
                  <a:lnTo>
                    <a:pt x="1970757" y="6858000"/>
                  </a:lnTo>
                  <a:lnTo>
                    <a:pt x="1735872" y="6627685"/>
                  </a:lnTo>
                  <a:cubicBezTo>
                    <a:pt x="1502484" y="6382823"/>
                    <a:pt x="1285774" y="6107254"/>
                    <a:pt x="1080932" y="5805127"/>
                  </a:cubicBezTo>
                  <a:cubicBezTo>
                    <a:pt x="556365" y="5032027"/>
                    <a:pt x="0" y="4501616"/>
                    <a:pt x="0" y="3498372"/>
                  </a:cubicBezTo>
                  <a:cubicBezTo>
                    <a:pt x="0" y="2160829"/>
                    <a:pt x="685186" y="949872"/>
                    <a:pt x="1708174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0DF88B0-FA8A-47F5-8EAC-1880B1A51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22894" y="-5799"/>
              <a:ext cx="7269107" cy="6858000"/>
            </a:xfrm>
            <a:custGeom>
              <a:avLst/>
              <a:gdLst>
                <a:gd name="connsiteX0" fmla="*/ 7269107 w 7269107"/>
                <a:gd name="connsiteY0" fmla="*/ 5518449 h 6858000"/>
                <a:gd name="connsiteX1" fmla="*/ 7269107 w 7269107"/>
                <a:gd name="connsiteY1" fmla="*/ 6823281 h 6858000"/>
                <a:gd name="connsiteX2" fmla="*/ 7224122 w 7269107"/>
                <a:gd name="connsiteY2" fmla="*/ 6858000 h 6858000"/>
                <a:gd name="connsiteX3" fmla="*/ 4927054 w 7269107"/>
                <a:gd name="connsiteY3" fmla="*/ 6858000 h 6858000"/>
                <a:gd name="connsiteX4" fmla="*/ 4982167 w 7269107"/>
                <a:gd name="connsiteY4" fmla="*/ 6852876 h 6858000"/>
                <a:gd name="connsiteX5" fmla="*/ 5743768 w 7269107"/>
                <a:gd name="connsiteY5" fmla="*/ 6606245 h 6858000"/>
                <a:gd name="connsiteX6" fmla="*/ 6843778 w 7269107"/>
                <a:gd name="connsiteY6" fmla="*/ 5848440 h 6858000"/>
                <a:gd name="connsiteX7" fmla="*/ 7115515 w 7269107"/>
                <a:gd name="connsiteY7" fmla="*/ 5637891 h 6858000"/>
                <a:gd name="connsiteX8" fmla="*/ 6870111 w 7269107"/>
                <a:gd name="connsiteY8" fmla="*/ 0 h 6858000"/>
                <a:gd name="connsiteX9" fmla="*/ 7269107 w 7269107"/>
                <a:gd name="connsiteY9" fmla="*/ 0 h 6858000"/>
                <a:gd name="connsiteX10" fmla="*/ 7269107 w 7269107"/>
                <a:gd name="connsiteY10" fmla="*/ 243137 h 6858000"/>
                <a:gd name="connsiteX11" fmla="*/ 7089989 w 7269107"/>
                <a:gd name="connsiteY11" fmla="*/ 119955 h 6858000"/>
                <a:gd name="connsiteX12" fmla="*/ 6952948 w 7269107"/>
                <a:gd name="connsiteY12" fmla="*/ 41521 h 6858000"/>
                <a:gd name="connsiteX13" fmla="*/ 1797606 w 7269107"/>
                <a:gd name="connsiteY13" fmla="*/ 0 h 6858000"/>
                <a:gd name="connsiteX14" fmla="*/ 3815328 w 7269107"/>
                <a:gd name="connsiteY14" fmla="*/ 0 h 6858000"/>
                <a:gd name="connsiteX15" fmla="*/ 3627371 w 7269107"/>
                <a:gd name="connsiteY15" fmla="*/ 77142 h 6858000"/>
                <a:gd name="connsiteX16" fmla="*/ 2379115 w 7269107"/>
                <a:gd name="connsiteY16" fmla="*/ 856285 h 6858000"/>
                <a:gd name="connsiteX17" fmla="*/ 1386699 w 7269107"/>
                <a:gd name="connsiteY17" fmla="*/ 2086062 h 6858000"/>
                <a:gd name="connsiteX18" fmla="*/ 1031258 w 7269107"/>
                <a:gd name="connsiteY18" fmla="*/ 3498372 h 6858000"/>
                <a:gd name="connsiteX19" fmla="*/ 1618904 w 7269107"/>
                <a:gd name="connsiteY19" fmla="*/ 4781604 h 6858000"/>
                <a:gd name="connsiteX20" fmla="*/ 1934812 w 7269107"/>
                <a:gd name="connsiteY20" fmla="*/ 5225904 h 6858000"/>
                <a:gd name="connsiteX21" fmla="*/ 3140010 w 7269107"/>
                <a:gd name="connsiteY21" fmla="*/ 6456196 h 6858000"/>
                <a:gd name="connsiteX22" fmla="*/ 4281662 w 7269107"/>
                <a:gd name="connsiteY22" fmla="*/ 6843305 h 6858000"/>
                <a:gd name="connsiteX23" fmla="*/ 4449058 w 7269107"/>
                <a:gd name="connsiteY23" fmla="*/ 6858000 h 6858000"/>
                <a:gd name="connsiteX24" fmla="*/ 1970756 w 7269107"/>
                <a:gd name="connsiteY24" fmla="*/ 6858000 h 6858000"/>
                <a:gd name="connsiteX25" fmla="*/ 1735871 w 7269107"/>
                <a:gd name="connsiteY25" fmla="*/ 6627685 h 6858000"/>
                <a:gd name="connsiteX26" fmla="*/ 1080930 w 7269107"/>
                <a:gd name="connsiteY26" fmla="*/ 5805127 h 6858000"/>
                <a:gd name="connsiteX27" fmla="*/ 0 w 7269107"/>
                <a:gd name="connsiteY27" fmla="*/ 3498372 h 6858000"/>
                <a:gd name="connsiteX28" fmla="*/ 1708172 w 7269107"/>
                <a:gd name="connsiteY28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269107" h="6858000">
                  <a:moveTo>
                    <a:pt x="7269107" y="5518449"/>
                  </a:moveTo>
                  <a:lnTo>
                    <a:pt x="7269107" y="6823281"/>
                  </a:lnTo>
                  <a:lnTo>
                    <a:pt x="7224122" y="6858000"/>
                  </a:lnTo>
                  <a:lnTo>
                    <a:pt x="4927054" y="6858000"/>
                  </a:lnTo>
                  <a:lnTo>
                    <a:pt x="4982167" y="6852876"/>
                  </a:lnTo>
                  <a:cubicBezTo>
                    <a:pt x="5236517" y="6821036"/>
                    <a:pt x="5483373" y="6740566"/>
                    <a:pt x="5743768" y="6606245"/>
                  </a:cubicBezTo>
                  <a:cubicBezTo>
                    <a:pt x="6099551" y="6422337"/>
                    <a:pt x="6452586" y="6154209"/>
                    <a:pt x="6843778" y="5848440"/>
                  </a:cubicBezTo>
                  <a:cubicBezTo>
                    <a:pt x="6935559" y="5776768"/>
                    <a:pt x="7026997" y="5706642"/>
                    <a:pt x="7115515" y="5637891"/>
                  </a:cubicBezTo>
                  <a:close/>
                  <a:moveTo>
                    <a:pt x="6870111" y="0"/>
                  </a:moveTo>
                  <a:lnTo>
                    <a:pt x="7269107" y="0"/>
                  </a:lnTo>
                  <a:lnTo>
                    <a:pt x="7269107" y="243137"/>
                  </a:lnTo>
                  <a:lnTo>
                    <a:pt x="7089989" y="119955"/>
                  </a:lnTo>
                  <a:cubicBezTo>
                    <a:pt x="7045081" y="92581"/>
                    <a:pt x="6999384" y="66425"/>
                    <a:pt x="6952948" y="41521"/>
                  </a:cubicBezTo>
                  <a:close/>
                  <a:moveTo>
                    <a:pt x="1797606" y="0"/>
                  </a:moveTo>
                  <a:lnTo>
                    <a:pt x="3815328" y="0"/>
                  </a:lnTo>
                  <a:lnTo>
                    <a:pt x="3627371" y="77142"/>
                  </a:lnTo>
                  <a:cubicBezTo>
                    <a:pt x="3175548" y="273822"/>
                    <a:pt x="2754868" y="536281"/>
                    <a:pt x="2379115" y="856285"/>
                  </a:cubicBezTo>
                  <a:cubicBezTo>
                    <a:pt x="1959736" y="1215679"/>
                    <a:pt x="1616497" y="1640901"/>
                    <a:pt x="1386699" y="2086062"/>
                  </a:cubicBezTo>
                  <a:cubicBezTo>
                    <a:pt x="1151572" y="2543083"/>
                    <a:pt x="1031258" y="3018150"/>
                    <a:pt x="1031258" y="3498372"/>
                  </a:cubicBezTo>
                  <a:cubicBezTo>
                    <a:pt x="1031258" y="3957455"/>
                    <a:pt x="1211213" y="4223692"/>
                    <a:pt x="1618904" y="4781604"/>
                  </a:cubicBezTo>
                  <a:cubicBezTo>
                    <a:pt x="1720826" y="4921339"/>
                    <a:pt x="1826186" y="5065887"/>
                    <a:pt x="1934812" y="5225904"/>
                  </a:cubicBezTo>
                  <a:cubicBezTo>
                    <a:pt x="2318957" y="5792064"/>
                    <a:pt x="2713069" y="6194600"/>
                    <a:pt x="3140010" y="6456196"/>
                  </a:cubicBezTo>
                  <a:cubicBezTo>
                    <a:pt x="3479423" y="6664512"/>
                    <a:pt x="3855769" y="6792387"/>
                    <a:pt x="4281662" y="6843305"/>
                  </a:cubicBezTo>
                  <a:lnTo>
                    <a:pt x="4449058" y="6858000"/>
                  </a:lnTo>
                  <a:lnTo>
                    <a:pt x="1970756" y="6858000"/>
                  </a:lnTo>
                  <a:lnTo>
                    <a:pt x="1735871" y="6627685"/>
                  </a:lnTo>
                  <a:cubicBezTo>
                    <a:pt x="1502482" y="6382823"/>
                    <a:pt x="1285773" y="6107254"/>
                    <a:pt x="1080930" y="5805127"/>
                  </a:cubicBezTo>
                  <a:cubicBezTo>
                    <a:pt x="556364" y="5032027"/>
                    <a:pt x="0" y="4501616"/>
                    <a:pt x="0" y="3498372"/>
                  </a:cubicBezTo>
                  <a:cubicBezTo>
                    <a:pt x="0" y="2160829"/>
                    <a:pt x="685185" y="949872"/>
                    <a:pt x="1708172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Rectangle 3">
            <a:extLst>
              <a:ext uri="{FF2B5EF4-FFF2-40B4-BE49-F238E27FC236}">
                <a16:creationId xmlns:a16="http://schemas.microsoft.com/office/drawing/2014/main" id="{87D42B80-CF11-D71A-E097-4FC13AF7F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2812" y="1032987"/>
            <a:ext cx="4919108" cy="479202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</a:rPr>
              <a:t>Traditional cruise control systems maintain a constant, pre-set speed without any awareness of the surrounding environment, making them fundamentally inadequate for real-world dynamic road conditions where obstacles can appear unexpectedly at any moment. The absence of real-time sensing and adaptive capability creates a critical over-reliance on human reaction, which is delay-prone and significantly increases the risk of collisions. This limitation is especially problematic in automated and robotic vehicle systems, where fast, precise, and reliable speed regulation is essential — highlighting the urgent need for an intelligent, sensor-driven adaptive speed control solution.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25CE1C7-BA12-8730-B8E9-825E3BB89A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534" y="4316507"/>
            <a:ext cx="7788193" cy="2961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134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CF75AD06-DFC4-4B3A-8490-330823D0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C587C93-0840-40DF-96D5-D1F2137E6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58AA4-C461-798E-3B8C-DA4327230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401859"/>
            <a:ext cx="4130185" cy="405428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System Overview</a:t>
            </a:r>
            <a:b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36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E02D55A-F529-4B19-BAF9-F63240A7B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3839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4" name="Freeform: Shape 19">
              <a:extLst>
                <a:ext uri="{FF2B5EF4-FFF2-40B4-BE49-F238E27FC236}">
                  <a16:creationId xmlns:a16="http://schemas.microsoft.com/office/drawing/2014/main" id="{60367E3C-3947-493D-9458-5955DB20AE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20">
              <a:extLst>
                <a:ext uri="{FF2B5EF4-FFF2-40B4-BE49-F238E27FC236}">
                  <a16:creationId xmlns:a16="http://schemas.microsoft.com/office/drawing/2014/main" id="{1E8D9785-21DB-4CE6-B138-2999AD6161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21">
              <a:extLst>
                <a:ext uri="{FF2B5EF4-FFF2-40B4-BE49-F238E27FC236}">
                  <a16:creationId xmlns:a16="http://schemas.microsoft.com/office/drawing/2014/main" id="{43AA5AD5-8F29-4165-8112-305DDDDDD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22">
              <a:extLst>
                <a:ext uri="{FF2B5EF4-FFF2-40B4-BE49-F238E27FC236}">
                  <a16:creationId xmlns:a16="http://schemas.microsoft.com/office/drawing/2014/main" id="{2A4EC0CF-F38F-4D7F-B48D-9A26E814D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F75ECAF-6FBD-F897-878F-F8DE11CB6E6E}"/>
              </a:ext>
            </a:extLst>
          </p:cNvPr>
          <p:cNvSpPr txBox="1"/>
          <p:nvPr/>
        </p:nvSpPr>
        <p:spPr>
          <a:xfrm>
            <a:off x="5257800" y="1553134"/>
            <a:ext cx="6128539" cy="37517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b="1">
                <a:solidFill>
                  <a:schemeClr val="tx2"/>
                </a:solidFill>
              </a:rPr>
              <a:t>Hybrid Architecture</a:t>
            </a:r>
            <a:endParaRPr lang="en-US" sz="1000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2"/>
                </a:solidFill>
              </a:rPr>
              <a:t>The system integrates three specialized platforms, each performing a distinct role within the control pipeline — ensuring modularity, scalability, and real-time performance.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000">
              <a:solidFill>
                <a:schemeClr val="tx2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b="1">
                <a:solidFill>
                  <a:schemeClr val="tx2"/>
                </a:solidFill>
              </a:rPr>
              <a:t> Arduino — Hardware Layer</a:t>
            </a:r>
            <a:endParaRPr lang="en-US" sz="1000">
              <a:solidFill>
                <a:schemeClr val="tx2"/>
              </a:solidFill>
            </a:endParaRP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2"/>
                </a:solidFill>
              </a:rPr>
              <a:t>Acquires real-time data from the ultrasonic sensor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2"/>
                </a:solidFill>
              </a:rPr>
              <a:t>Controls the motor driver and vehicle movement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2"/>
                </a:solidFill>
              </a:rPr>
              <a:t>Operates as a slave device, executing commands from QNX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b="1">
                <a:solidFill>
                  <a:schemeClr val="tx2"/>
                </a:solidFill>
              </a:rPr>
              <a:t> Python — Communication Layer</a:t>
            </a:r>
            <a:endParaRPr lang="en-US" sz="1000">
              <a:solidFill>
                <a:schemeClr val="tx2"/>
              </a:solidFill>
            </a:endParaRP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2"/>
                </a:solidFill>
              </a:rPr>
              <a:t>Acts as an intelligent bridge between Arduino and QNX RTOS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2"/>
                </a:solidFill>
              </a:rPr>
              <a:t>Uses serial communication with Arduino and socket communication with QNX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2"/>
                </a:solidFill>
              </a:rPr>
              <a:t>Ensures continuous, non-blocking and reliable data transfer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b="1">
                <a:solidFill>
                  <a:schemeClr val="tx2"/>
                </a:solidFill>
              </a:rPr>
              <a:t>QNX RTOS — Control Layer (Master)</a:t>
            </a:r>
            <a:endParaRPr lang="en-US" sz="1000">
              <a:solidFill>
                <a:schemeClr val="tx2"/>
              </a:solidFill>
            </a:endParaRP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2"/>
                </a:solidFill>
              </a:rPr>
              <a:t>Serves as the primary decision-making and processing unit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2"/>
                </a:solidFill>
              </a:rPr>
              <a:t>Processes incoming sensor data in real time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2"/>
                </a:solidFill>
              </a:rPr>
              <a:t>Generates precise speed regulation and emergency braking commands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2"/>
                </a:solidFill>
              </a:rPr>
              <a:t>Delivers deterministic, fault-tolerant, and reliable system control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000">
              <a:solidFill>
                <a:schemeClr val="tx2"/>
              </a:solidFill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7A3A52F-BCB3-444D-9372-EE018B135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8535970" y="4114799"/>
            <a:ext cx="3655725" cy="2743201"/>
            <a:chOff x="-305" y="-1"/>
            <a:chExt cx="3832880" cy="2876136"/>
          </a:xfrm>
        </p:grpSpPr>
        <p:sp>
          <p:nvSpPr>
            <p:cNvPr id="39" name="Freeform: Shape 25">
              <a:extLst>
                <a:ext uri="{FF2B5EF4-FFF2-40B4-BE49-F238E27FC236}">
                  <a16:creationId xmlns:a16="http://schemas.microsoft.com/office/drawing/2014/main" id="{91E32C13-DED6-4967-85B8-68DD77103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26">
              <a:extLst>
                <a:ext uri="{FF2B5EF4-FFF2-40B4-BE49-F238E27FC236}">
                  <a16:creationId xmlns:a16="http://schemas.microsoft.com/office/drawing/2014/main" id="{38DDA515-BC6A-47FB-951E-E1E7928750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27">
              <a:extLst>
                <a:ext uri="{FF2B5EF4-FFF2-40B4-BE49-F238E27FC236}">
                  <a16:creationId xmlns:a16="http://schemas.microsoft.com/office/drawing/2014/main" id="{B97EEFA7-6787-4EC0-8284-6D3D273061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28">
              <a:extLst>
                <a:ext uri="{FF2B5EF4-FFF2-40B4-BE49-F238E27FC236}">
                  <a16:creationId xmlns:a16="http://schemas.microsoft.com/office/drawing/2014/main" id="{1A9621AC-50AB-4B43-896D-78FE571A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5443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74169-D4BC-7379-FEAF-7BE01928A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" y="304165"/>
            <a:ext cx="6736080" cy="1325563"/>
          </a:xfrm>
        </p:spPr>
        <p:txBody>
          <a:bodyPr/>
          <a:lstStyle/>
          <a:p>
            <a:r>
              <a:rPr lang="en-IN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79223C-4AB0-31B6-A0D9-2FFE3F2B3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796" y="1304365"/>
            <a:ext cx="10887650" cy="51367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0DC1C1-28D6-F362-9BFE-011FF443C999}"/>
              </a:ext>
            </a:extLst>
          </p:cNvPr>
          <p:cNvSpPr txBox="1"/>
          <p:nvPr/>
        </p:nvSpPr>
        <p:spPr>
          <a:xfrm>
            <a:off x="672352" y="457200"/>
            <a:ext cx="53922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Circuit Diagram</a:t>
            </a:r>
          </a:p>
        </p:txBody>
      </p:sp>
    </p:spTree>
    <p:extLst>
      <p:ext uri="{BB962C8B-B14F-4D97-AF65-F5344CB8AC3E}">
        <p14:creationId xmlns:p14="http://schemas.microsoft.com/office/powerpoint/2010/main" val="2405914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8346498-3376-0D30-6D2A-A3E3A18F0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IN" sz="3600">
                <a:solidFill>
                  <a:schemeClr val="tx2"/>
                </a:solidFill>
              </a:rPr>
              <a:t>Hardware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553C0-52A6-99C5-9DA9-3C13915B8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15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Uno</a:t>
            </a:r>
          </a:p>
          <a:p>
            <a:pPr lvl="1"/>
            <a:r>
              <a:rPr lang="en-IN" sz="15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microcontroller responsible for hardware interfacing </a:t>
            </a:r>
          </a:p>
          <a:p>
            <a:pPr lvl="1"/>
            <a:r>
              <a:rPr lang="en-IN" sz="15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Reads sensor data and controls motor driver and buzzer </a:t>
            </a:r>
          </a:p>
          <a:p>
            <a:pPr lvl="1"/>
            <a:r>
              <a:rPr lang="en-IN" sz="15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Acts as the execution unit for system commands </a:t>
            </a:r>
            <a:br>
              <a:rPr lang="en-IN" sz="15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5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15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L298N Motor Driver</a:t>
            </a:r>
          </a:p>
          <a:p>
            <a:pPr lvl="1"/>
            <a:r>
              <a:rPr lang="en-IN" sz="15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H-bridge module used for bidirectional motor control </a:t>
            </a:r>
          </a:p>
          <a:p>
            <a:pPr lvl="1"/>
            <a:r>
              <a:rPr lang="en-IN" sz="15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Enables speed control using PWM signals from Arduino </a:t>
            </a:r>
          </a:p>
          <a:p>
            <a:pPr lvl="1"/>
            <a:r>
              <a:rPr lang="en-IN" sz="15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Drives DC motors efficiently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5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Ultrasonic Sensor (HC-SR04)</a:t>
            </a:r>
          </a:p>
          <a:p>
            <a:pPr lvl="1"/>
            <a:r>
              <a:rPr lang="en-IN" sz="15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Measures distance using ultrasonic wave reflection </a:t>
            </a:r>
          </a:p>
          <a:p>
            <a:pPr lvl="1"/>
            <a:r>
              <a:rPr lang="en-IN" sz="15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Essential for obstacle detection and braking logic </a:t>
            </a:r>
          </a:p>
          <a:p>
            <a:pPr>
              <a:buFont typeface="Wingdings" panose="05000000000000000000" pitchFamily="2" charset="2"/>
              <a:buChar char="Ø"/>
            </a:pPr>
            <a:br>
              <a:rPr lang="en-IN" sz="15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5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DC Motors &amp; Buzzer</a:t>
            </a:r>
          </a:p>
          <a:p>
            <a:pPr lvl="1"/>
            <a:r>
              <a:rPr lang="en-IN" sz="15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DC motors provide vehicle movement and speed control </a:t>
            </a:r>
          </a:p>
          <a:p>
            <a:pPr lvl="1"/>
            <a:r>
              <a:rPr lang="en-IN" sz="15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Buzzer gives audio alert when obstacle is too close (&lt;20 cm) </a:t>
            </a:r>
          </a:p>
          <a:p>
            <a:pPr lvl="1"/>
            <a:r>
              <a:rPr lang="en-IN" sz="15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Enhances overall system safety</a:t>
            </a:r>
          </a:p>
          <a:p>
            <a:endParaRPr lang="en-IN" sz="15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2755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2F4C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AB3C4-B758-5164-A8A2-F46A9DF37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Hardware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EF6CD6C-DBEC-3601-9C13-D4767AB789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56296" y="961812"/>
            <a:ext cx="6552806" cy="493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111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2BE64A3-C475-B152-A630-09A169292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IN" sz="3600">
                <a:solidFill>
                  <a:schemeClr val="tx2"/>
                </a:solidFill>
              </a:rPr>
              <a:t>Working Principle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C8062-6589-30AF-29F3-2D73AC2EF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— Distance Measurement</a:t>
            </a:r>
            <a:endParaRPr lang="en-US" sz="1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ultrasonic sensor continuously monitors the surrounding environment for nearby obstacles</a:t>
            </a:r>
          </a:p>
          <a:p>
            <a:r>
              <a:rPr lang="en-US" sz="1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 is calculated using the time-of-flight principle of ultrasonic wave propagation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 — Data Transmission</a:t>
            </a:r>
            <a:endParaRPr lang="en-US" sz="1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Measured distance values are transmitted from Arduino to QNX RTOS via the Python communication bridge</a:t>
            </a:r>
          </a:p>
          <a:p>
            <a:r>
              <a:rPr lang="en-US" sz="1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Ensures seamless, real-time data transfer for immediate processing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 — Data Processing</a:t>
            </a:r>
            <a:endParaRPr lang="en-US" sz="1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QNX RTOS receives and processes incoming sensor data in real time</a:t>
            </a:r>
          </a:p>
          <a:p>
            <a:r>
              <a:rPr lang="en-US" sz="1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Applies predefined control logic based on the measured distance value</a:t>
            </a:r>
          </a:p>
          <a:p>
            <a:r>
              <a:rPr lang="en-US" sz="1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Determines the appropriate speed regulation or braking action required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 — Command Generation</a:t>
            </a:r>
            <a:endParaRPr lang="en-US" sz="1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QNX RTOS generates precise control commands based on processed data</a:t>
            </a:r>
          </a:p>
          <a:p>
            <a:r>
              <a:rPr lang="en-US" sz="1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Commands are relayed back to Arduino through the Python communication layer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5 — Motor Control &amp; Safety Response</a:t>
            </a:r>
            <a:endParaRPr lang="en-US" sz="1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receives the commands and adjusts motor speed accordingly using PWM signals</a:t>
            </a:r>
          </a:p>
          <a:p>
            <a:r>
              <a:rPr lang="en-US" sz="1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detected distance falls below 20 cm: </a:t>
            </a:r>
          </a:p>
          <a:p>
            <a:pPr lvl="1"/>
            <a:r>
              <a:rPr lang="en-US" sz="1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Vehicle comes to an immediate and complete stop</a:t>
            </a:r>
          </a:p>
          <a:p>
            <a:pPr lvl="1"/>
            <a:r>
              <a:rPr lang="en-US" sz="1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Buzzer is activated to issue a real-time safety alert</a:t>
            </a:r>
          </a:p>
          <a:p>
            <a:endParaRPr lang="en-IN" sz="1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2545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0A31F7-19B0-6F6A-BA10-DAF1244E8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4000">
                <a:solidFill>
                  <a:srgbClr val="FFFFFF"/>
                </a:solidFill>
              </a:rPr>
              <a:t>Software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E3D87-1D47-12F1-763D-1ABE378D6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1300" b="1"/>
              <a:t>Arduino IDE — Hardware Control Layer</a:t>
            </a:r>
            <a:endParaRPr lang="en-IN" sz="1300"/>
          </a:p>
          <a:p>
            <a:r>
              <a:rPr lang="en-IN" sz="1300"/>
              <a:t>Used to develop and upload firmware to the Arduino Uno microcontroller</a:t>
            </a:r>
          </a:p>
          <a:p>
            <a:r>
              <a:rPr lang="en-IN" sz="1300"/>
              <a:t>Handles ultrasonic sensor data acquisition and real-time distance measurement</a:t>
            </a:r>
          </a:p>
          <a:p>
            <a:r>
              <a:rPr lang="en-IN" sz="1300"/>
              <a:t>Manages PWM-based motor speed control and buzzer activation</a:t>
            </a:r>
          </a:p>
          <a:p>
            <a:r>
              <a:rPr lang="en-IN" sz="1300"/>
              <a:t>Serves as the dedicated hardware execution and control layer</a:t>
            </a:r>
          </a:p>
          <a:p>
            <a:pPr marL="0" indent="0">
              <a:buNone/>
            </a:pPr>
            <a:endParaRPr lang="en-IN" sz="1300"/>
          </a:p>
          <a:p>
            <a:pPr>
              <a:buFont typeface="Wingdings" panose="05000000000000000000" pitchFamily="2" charset="2"/>
              <a:buChar char="Ø"/>
            </a:pPr>
            <a:r>
              <a:rPr lang="en-IN" sz="1300" b="1"/>
              <a:t>Python — Serial &amp; Socket Communication Bridge</a:t>
            </a:r>
            <a:endParaRPr lang="en-IN" sz="1300"/>
          </a:p>
          <a:p>
            <a:r>
              <a:rPr lang="en-IN" sz="1300"/>
              <a:t>Acts as the central communication interface between Arduino and QNX RTOS</a:t>
            </a:r>
          </a:p>
          <a:p>
            <a:r>
              <a:rPr lang="en-IN" sz="1300"/>
              <a:t>Utilizes serial communication for Arduino to Python data exchange</a:t>
            </a:r>
          </a:p>
          <a:p>
            <a:r>
              <a:rPr lang="en-IN" sz="1300"/>
              <a:t>Utilizes socket communication for Python to QNX data exchange</a:t>
            </a:r>
          </a:p>
          <a:p>
            <a:r>
              <a:rPr lang="en-IN" sz="1300"/>
              <a:t>Ensures real-time, continuous, and non-blocking bidirectional data transfer</a:t>
            </a:r>
          </a:p>
          <a:p>
            <a:pPr marL="0" indent="0">
              <a:buNone/>
            </a:pPr>
            <a:endParaRPr lang="en-IN" sz="1300"/>
          </a:p>
          <a:p>
            <a:pPr>
              <a:buFont typeface="Wingdings" panose="05000000000000000000" pitchFamily="2" charset="2"/>
              <a:buChar char="Ø"/>
            </a:pPr>
            <a:r>
              <a:rPr lang="en-IN" sz="1300" b="1"/>
              <a:t>QNX RTOS — Master Control &amp; Decision Layer</a:t>
            </a:r>
            <a:endParaRPr lang="en-IN" sz="1300"/>
          </a:p>
          <a:p>
            <a:r>
              <a:rPr lang="en-IN" sz="1300"/>
              <a:t>Serves as the primary decision-making and processing unit of the system</a:t>
            </a:r>
          </a:p>
          <a:p>
            <a:r>
              <a:rPr lang="en-IN" sz="1300"/>
              <a:t>Processes incoming sensor data in real time with high accuracy</a:t>
            </a:r>
          </a:p>
          <a:p>
            <a:r>
              <a:rPr lang="en-IN" sz="1300"/>
              <a:t>Implements adaptive speed regulation and emergency braking logic</a:t>
            </a:r>
          </a:p>
          <a:p>
            <a:r>
              <a:rPr lang="en-IN" sz="1300"/>
              <a:t>Provides deterministic task scheduling for time-critical operations</a:t>
            </a:r>
          </a:p>
          <a:p>
            <a:r>
              <a:rPr lang="en-IN" sz="1300"/>
              <a:t>Delivers high reliability, fault tolerance, and fast, predictable system response</a:t>
            </a:r>
          </a:p>
          <a:p>
            <a:endParaRPr lang="en-IN" sz="1300"/>
          </a:p>
        </p:txBody>
      </p:sp>
    </p:spTree>
    <p:extLst>
      <p:ext uri="{BB962C8B-B14F-4D97-AF65-F5344CB8AC3E}">
        <p14:creationId xmlns:p14="http://schemas.microsoft.com/office/powerpoint/2010/main" val="14339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FADF8-8B2E-82F6-1A85-C6C7A8E64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Control Logic</a:t>
            </a:r>
            <a:br>
              <a:rPr lang="en-US" dirty="0"/>
            </a:b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36FF52D-B026-2FFA-9333-F7A21A5821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17177" y="1186341"/>
            <a:ext cx="10515600" cy="385554"/>
          </a:xfrm>
          <a:prstGeom prst="rect">
            <a:avLst/>
          </a:prstGeom>
        </p:spPr>
      </p:pic>
      <p:sp>
        <p:nvSpPr>
          <p:cNvPr id="45" name="Shape 4">
            <a:extLst>
              <a:ext uri="{FF2B5EF4-FFF2-40B4-BE49-F238E27FC236}">
                <a16:creationId xmlns:a16="http://schemas.microsoft.com/office/drawing/2014/main" id="{3037B303-8524-759E-F3D2-22750D0858DE}"/>
              </a:ext>
            </a:extLst>
          </p:cNvPr>
          <p:cNvSpPr/>
          <p:nvPr/>
        </p:nvSpPr>
        <p:spPr>
          <a:xfrm>
            <a:off x="739150" y="1679765"/>
            <a:ext cx="1630323" cy="1143833"/>
          </a:xfrm>
          <a:prstGeom prst="roundRect">
            <a:avLst>
              <a:gd name="adj" fmla="val 16955"/>
            </a:avLst>
          </a:prstGeom>
          <a:solidFill>
            <a:srgbClr val="D4F7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6" name="Image 0" descr="preencoded.png">
            <a:extLst>
              <a:ext uri="{FF2B5EF4-FFF2-40B4-BE49-F238E27FC236}">
                <a16:creationId xmlns:a16="http://schemas.microsoft.com/office/drawing/2014/main" id="{EA58D430-2ED9-80EB-EDAC-39B9ADB6A9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6079" y="2160480"/>
            <a:ext cx="303014" cy="303014"/>
          </a:xfrm>
          <a:prstGeom prst="rect">
            <a:avLst/>
          </a:prstGeom>
        </p:spPr>
      </p:pic>
      <p:sp>
        <p:nvSpPr>
          <p:cNvPr id="47" name="Text 5">
            <a:extLst>
              <a:ext uri="{FF2B5EF4-FFF2-40B4-BE49-F238E27FC236}">
                <a16:creationId xmlns:a16="http://schemas.microsoft.com/office/drawing/2014/main" id="{F88C3CCC-A9B3-3179-D37C-60ABBB1EEB5C}"/>
              </a:ext>
            </a:extLst>
          </p:cNvPr>
          <p:cNvSpPr/>
          <p:nvPr/>
        </p:nvSpPr>
        <p:spPr>
          <a:xfrm>
            <a:off x="2478132" y="1955454"/>
            <a:ext cx="2463046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10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Distance &gt; 60 cm</a:t>
            </a:r>
            <a:endParaRPr lang="en-US" sz="2100" dirty="0"/>
          </a:p>
        </p:txBody>
      </p:sp>
      <p:sp>
        <p:nvSpPr>
          <p:cNvPr id="48" name="Text 6">
            <a:extLst>
              <a:ext uri="{FF2B5EF4-FFF2-40B4-BE49-F238E27FC236}">
                <a16:creationId xmlns:a16="http://schemas.microsoft.com/office/drawing/2014/main" id="{494058E5-1340-CB4D-784B-7B3AF4606DFF}"/>
              </a:ext>
            </a:extLst>
          </p:cNvPr>
          <p:cNvSpPr/>
          <p:nvPr/>
        </p:nvSpPr>
        <p:spPr>
          <a:xfrm>
            <a:off x="2478132" y="2374435"/>
            <a:ext cx="2463046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Vehicle runs at full speed</a:t>
            </a:r>
            <a:endParaRPr lang="en-US" sz="1650" dirty="0"/>
          </a:p>
        </p:txBody>
      </p:sp>
      <p:sp>
        <p:nvSpPr>
          <p:cNvPr id="49" name="Shape 8">
            <a:extLst>
              <a:ext uri="{FF2B5EF4-FFF2-40B4-BE49-F238E27FC236}">
                <a16:creationId xmlns:a16="http://schemas.microsoft.com/office/drawing/2014/main" id="{719B313C-4F8A-4C82-78D4-9185E2D94D73}"/>
              </a:ext>
            </a:extLst>
          </p:cNvPr>
          <p:cNvSpPr/>
          <p:nvPr/>
        </p:nvSpPr>
        <p:spPr>
          <a:xfrm>
            <a:off x="632425" y="2991536"/>
            <a:ext cx="3260646" cy="1143833"/>
          </a:xfrm>
          <a:prstGeom prst="roundRect">
            <a:avLst>
              <a:gd name="adj" fmla="val 16955"/>
            </a:avLst>
          </a:prstGeom>
          <a:solidFill>
            <a:srgbClr val="D4F7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0" name="Image 1" descr="preencoded.png">
            <a:extLst>
              <a:ext uri="{FF2B5EF4-FFF2-40B4-BE49-F238E27FC236}">
                <a16:creationId xmlns:a16="http://schemas.microsoft.com/office/drawing/2014/main" id="{5E31C3B7-C6BF-A894-6DFD-0E923263D6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11181" y="3411946"/>
            <a:ext cx="303014" cy="303014"/>
          </a:xfrm>
          <a:prstGeom prst="rect">
            <a:avLst/>
          </a:prstGeom>
        </p:spPr>
      </p:pic>
      <p:sp>
        <p:nvSpPr>
          <p:cNvPr id="51" name="Text 9">
            <a:extLst>
              <a:ext uri="{FF2B5EF4-FFF2-40B4-BE49-F238E27FC236}">
                <a16:creationId xmlns:a16="http://schemas.microsoft.com/office/drawing/2014/main" id="{6B3787C2-D6C4-43C7-7BD7-88F3DE6B056E}"/>
              </a:ext>
            </a:extLst>
          </p:cNvPr>
          <p:cNvSpPr/>
          <p:nvPr/>
        </p:nvSpPr>
        <p:spPr>
          <a:xfrm>
            <a:off x="4108454" y="3206920"/>
            <a:ext cx="2679859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10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Distance 40–60 cm</a:t>
            </a:r>
            <a:endParaRPr lang="en-US" sz="2100" dirty="0"/>
          </a:p>
        </p:txBody>
      </p:sp>
      <p:sp>
        <p:nvSpPr>
          <p:cNvPr id="52" name="Text 10">
            <a:extLst>
              <a:ext uri="{FF2B5EF4-FFF2-40B4-BE49-F238E27FC236}">
                <a16:creationId xmlns:a16="http://schemas.microsoft.com/office/drawing/2014/main" id="{1A7EA544-C81C-84AB-8483-AB18FE27D9C3}"/>
              </a:ext>
            </a:extLst>
          </p:cNvPr>
          <p:cNvSpPr/>
          <p:nvPr/>
        </p:nvSpPr>
        <p:spPr>
          <a:xfrm>
            <a:off x="4108454" y="3625901"/>
            <a:ext cx="2679859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Speed reduced moderately</a:t>
            </a:r>
            <a:endParaRPr lang="en-US" sz="1650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22ABA49F-45CD-F157-3A2E-43D07C376ED7}"/>
              </a:ext>
            </a:extLst>
          </p:cNvPr>
          <p:cNvSpPr/>
          <p:nvPr/>
        </p:nvSpPr>
        <p:spPr>
          <a:xfrm>
            <a:off x="632425" y="4243002"/>
            <a:ext cx="4890968" cy="1143833"/>
          </a:xfrm>
          <a:prstGeom prst="roundRect">
            <a:avLst>
              <a:gd name="adj" fmla="val 16955"/>
            </a:avLst>
          </a:prstGeom>
          <a:solidFill>
            <a:srgbClr val="D4F7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4" name="Image 2" descr="preencoded.png">
            <a:extLst>
              <a:ext uri="{FF2B5EF4-FFF2-40B4-BE49-F238E27FC236}">
                <a16:creationId xmlns:a16="http://schemas.microsoft.com/office/drawing/2014/main" id="{72B97887-9E1B-8239-A797-B76797E5A9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26402" y="4663412"/>
            <a:ext cx="303014" cy="303014"/>
          </a:xfrm>
          <a:prstGeom prst="rect">
            <a:avLst/>
          </a:prstGeom>
        </p:spPr>
      </p:pic>
      <p:sp>
        <p:nvSpPr>
          <p:cNvPr id="55" name="Text 13">
            <a:extLst>
              <a:ext uri="{FF2B5EF4-FFF2-40B4-BE49-F238E27FC236}">
                <a16:creationId xmlns:a16="http://schemas.microsoft.com/office/drawing/2014/main" id="{76A2867D-0C11-7048-F8F0-77F04A516C35}"/>
              </a:ext>
            </a:extLst>
          </p:cNvPr>
          <p:cNvSpPr/>
          <p:nvPr/>
        </p:nvSpPr>
        <p:spPr>
          <a:xfrm>
            <a:off x="5738777" y="4458386"/>
            <a:ext cx="2693551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10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Distance 20–40 cm</a:t>
            </a:r>
            <a:endParaRPr lang="en-US" sz="2100" dirty="0"/>
          </a:p>
        </p:txBody>
      </p:sp>
      <p:sp>
        <p:nvSpPr>
          <p:cNvPr id="56" name="Text 14">
            <a:extLst>
              <a:ext uri="{FF2B5EF4-FFF2-40B4-BE49-F238E27FC236}">
                <a16:creationId xmlns:a16="http://schemas.microsoft.com/office/drawing/2014/main" id="{4D566767-CBAA-2D4C-F7FC-E94346385D56}"/>
              </a:ext>
            </a:extLst>
          </p:cNvPr>
          <p:cNvSpPr/>
          <p:nvPr/>
        </p:nvSpPr>
        <p:spPr>
          <a:xfrm>
            <a:off x="5738777" y="4877367"/>
            <a:ext cx="2767489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Speed reduced significantly</a:t>
            </a:r>
            <a:endParaRPr lang="en-US" sz="1650" dirty="0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EC99FA06-0D43-E513-5422-51A278AB8F54}"/>
              </a:ext>
            </a:extLst>
          </p:cNvPr>
          <p:cNvSpPr/>
          <p:nvPr/>
        </p:nvSpPr>
        <p:spPr>
          <a:xfrm>
            <a:off x="632425" y="5494468"/>
            <a:ext cx="6521410" cy="1143833"/>
          </a:xfrm>
          <a:prstGeom prst="roundRect">
            <a:avLst>
              <a:gd name="adj" fmla="val 16955"/>
            </a:avLst>
          </a:prstGeom>
          <a:solidFill>
            <a:srgbClr val="D4F7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8" name="Image 3" descr="preencoded.png">
            <a:extLst>
              <a:ext uri="{FF2B5EF4-FFF2-40B4-BE49-F238E27FC236}">
                <a16:creationId xmlns:a16="http://schemas.microsoft.com/office/drawing/2014/main" id="{DDB01882-EBBF-A877-D7A3-6D30B7318D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41623" y="5914878"/>
            <a:ext cx="303014" cy="303014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84585AB4-4244-81A8-C752-D37E1CB94C1C}"/>
              </a:ext>
            </a:extLst>
          </p:cNvPr>
          <p:cNvSpPr/>
          <p:nvPr/>
        </p:nvSpPr>
        <p:spPr>
          <a:xfrm>
            <a:off x="7369219" y="5709852"/>
            <a:ext cx="2693551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10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Distance &lt; 20 cm</a:t>
            </a:r>
            <a:endParaRPr lang="en-US" sz="21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A7315AF4-689F-7674-329D-57C2801667E9}"/>
              </a:ext>
            </a:extLst>
          </p:cNvPr>
          <p:cNvSpPr/>
          <p:nvPr/>
        </p:nvSpPr>
        <p:spPr>
          <a:xfrm>
            <a:off x="7369219" y="6128833"/>
            <a:ext cx="3963114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Vehicle stops immediately + buzzer alert</a:t>
            </a:r>
            <a:endParaRPr lang="en-US" sz="1650" dirty="0"/>
          </a:p>
        </p:txBody>
      </p:sp>
    </p:spTree>
    <p:extLst>
      <p:ext uri="{BB962C8B-B14F-4D97-AF65-F5344CB8AC3E}">
        <p14:creationId xmlns:p14="http://schemas.microsoft.com/office/powerpoint/2010/main" val="1126996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36DFC-BC5A-4B06-70C6-C61F4DF00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Role of QNX RTOS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2FB55-63B7-EFE0-8493-5D04E8A3A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047" y="1640540"/>
            <a:ext cx="11618259" cy="4935071"/>
          </a:xfrm>
        </p:spPr>
        <p:txBody>
          <a:bodyPr/>
          <a:lstStyle/>
          <a:p>
            <a:r>
              <a:rPr lang="en-US" sz="20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QNX is critical for ensuring the Adaptive Cruise Control system's reliability and performance, especially in safety-critical automotive environments.</a:t>
            </a:r>
            <a:endParaRPr lang="en-US" sz="2000" dirty="0"/>
          </a:p>
          <a:p>
            <a:endParaRPr lang="en-IN" dirty="0"/>
          </a:p>
        </p:txBody>
      </p:sp>
      <p:pic>
        <p:nvPicPr>
          <p:cNvPr id="22" name="Image 0" descr="preencoded.png">
            <a:extLst>
              <a:ext uri="{FF2B5EF4-FFF2-40B4-BE49-F238E27FC236}">
                <a16:creationId xmlns:a16="http://schemas.microsoft.com/office/drawing/2014/main" id="{677C035B-0314-A118-44AE-02EEC0ABA8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9661" y="2382349"/>
            <a:ext cx="566976" cy="566976"/>
          </a:xfrm>
          <a:prstGeom prst="rect">
            <a:avLst/>
          </a:prstGeom>
        </p:spPr>
      </p:pic>
      <p:sp>
        <p:nvSpPr>
          <p:cNvPr id="23" name="Text 4">
            <a:extLst>
              <a:ext uri="{FF2B5EF4-FFF2-40B4-BE49-F238E27FC236}">
                <a16:creationId xmlns:a16="http://schemas.microsoft.com/office/drawing/2014/main" id="{AF61131F-98F7-F6F3-DC00-5147EDB53E32}"/>
              </a:ext>
            </a:extLst>
          </p:cNvPr>
          <p:cNvSpPr/>
          <p:nvPr/>
        </p:nvSpPr>
        <p:spPr>
          <a:xfrm>
            <a:off x="699661" y="3232812"/>
            <a:ext cx="2835235" cy="311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Real-Time Processing</a:t>
            </a:r>
            <a:endParaRPr lang="en-US" sz="2200" dirty="0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8B149510-417E-1A6F-16CA-E21E2F5EF794}"/>
              </a:ext>
            </a:extLst>
          </p:cNvPr>
          <p:cNvSpPr/>
          <p:nvPr/>
        </p:nvSpPr>
        <p:spPr>
          <a:xfrm>
            <a:off x="255908" y="3640384"/>
            <a:ext cx="637960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Provides real-time processing capability, essential for instantaneous data analysis and command execution.</a:t>
            </a:r>
            <a:endParaRPr lang="en-US" sz="1750" dirty="0"/>
          </a:p>
        </p:txBody>
      </p:sp>
      <p:pic>
        <p:nvPicPr>
          <p:cNvPr id="25" name="Image 1" descr="preencoded.png">
            <a:extLst>
              <a:ext uri="{FF2B5EF4-FFF2-40B4-BE49-F238E27FC236}">
                <a16:creationId xmlns:a16="http://schemas.microsoft.com/office/drawing/2014/main" id="{8FE673D8-E700-001C-9E0F-941C8C2C0B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62755" y="2382349"/>
            <a:ext cx="566976" cy="566976"/>
          </a:xfrm>
          <a:prstGeom prst="rect">
            <a:avLst/>
          </a:prstGeom>
        </p:spPr>
      </p:pic>
      <p:sp>
        <p:nvSpPr>
          <p:cNvPr id="26" name="Text 6">
            <a:extLst>
              <a:ext uri="{FF2B5EF4-FFF2-40B4-BE49-F238E27FC236}">
                <a16:creationId xmlns:a16="http://schemas.microsoft.com/office/drawing/2014/main" id="{E9133A8D-6170-9A61-F99A-F77E40EBD27A}"/>
              </a:ext>
            </a:extLst>
          </p:cNvPr>
          <p:cNvSpPr/>
          <p:nvPr/>
        </p:nvSpPr>
        <p:spPr>
          <a:xfrm>
            <a:off x="7362755" y="3232812"/>
            <a:ext cx="3055382" cy="311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Deterministic Response</a:t>
            </a:r>
            <a:endParaRPr lang="en-US" sz="2200" dirty="0"/>
          </a:p>
        </p:txBody>
      </p:sp>
      <p:pic>
        <p:nvPicPr>
          <p:cNvPr id="27" name="Image 2" descr="preencoded.png">
            <a:extLst>
              <a:ext uri="{FF2B5EF4-FFF2-40B4-BE49-F238E27FC236}">
                <a16:creationId xmlns:a16="http://schemas.microsoft.com/office/drawing/2014/main" id="{F4025412-C939-121F-366B-3B3B49A450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3108" y="4540833"/>
            <a:ext cx="566976" cy="566976"/>
          </a:xfrm>
          <a:prstGeom prst="rect">
            <a:avLst/>
          </a:prstGeom>
        </p:spPr>
      </p:pic>
      <p:sp>
        <p:nvSpPr>
          <p:cNvPr id="28" name="Text 8">
            <a:extLst>
              <a:ext uri="{FF2B5EF4-FFF2-40B4-BE49-F238E27FC236}">
                <a16:creationId xmlns:a16="http://schemas.microsoft.com/office/drawing/2014/main" id="{03CB544D-E635-A546-099C-A4C13FA9FA45}"/>
              </a:ext>
            </a:extLst>
          </p:cNvPr>
          <p:cNvSpPr/>
          <p:nvPr/>
        </p:nvSpPr>
        <p:spPr>
          <a:xfrm>
            <a:off x="686214" y="5162696"/>
            <a:ext cx="3297079" cy="311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Efficient Decision-Making</a:t>
            </a:r>
            <a:endParaRPr lang="en-US" sz="2200" dirty="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11D6515B-B500-FB2B-2B7A-1D40F6F0EFB3}"/>
              </a:ext>
            </a:extLst>
          </p:cNvPr>
          <p:cNvSpPr/>
          <p:nvPr/>
        </p:nvSpPr>
        <p:spPr>
          <a:xfrm>
            <a:off x="538296" y="5704738"/>
            <a:ext cx="562045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Handles decision-making efficiently, allowing the system to react swiftly to changing road conditions and obstacles.</a:t>
            </a:r>
            <a:endParaRPr lang="en-US" sz="1750" dirty="0"/>
          </a:p>
        </p:txBody>
      </p:sp>
      <p:pic>
        <p:nvPicPr>
          <p:cNvPr id="30" name="Image 3" descr="preencoded.png">
            <a:extLst>
              <a:ext uri="{FF2B5EF4-FFF2-40B4-BE49-F238E27FC236}">
                <a16:creationId xmlns:a16="http://schemas.microsoft.com/office/drawing/2014/main" id="{A97966D1-534B-3B17-B750-924D5595F1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68625" y="4581174"/>
            <a:ext cx="566976" cy="566976"/>
          </a:xfrm>
          <a:prstGeom prst="rect">
            <a:avLst/>
          </a:prstGeom>
        </p:spPr>
      </p:pic>
      <p:sp>
        <p:nvSpPr>
          <p:cNvPr id="31" name="Text 10">
            <a:extLst>
              <a:ext uri="{FF2B5EF4-FFF2-40B4-BE49-F238E27FC236}">
                <a16:creationId xmlns:a16="http://schemas.microsoft.com/office/drawing/2014/main" id="{15B7A2CB-72DF-F323-E064-9D458E7CE9EA}"/>
              </a:ext>
            </a:extLst>
          </p:cNvPr>
          <p:cNvSpPr/>
          <p:nvPr/>
        </p:nvSpPr>
        <p:spPr>
          <a:xfrm>
            <a:off x="7362755" y="5283719"/>
            <a:ext cx="3557230" cy="311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Safety-Critical Applications</a:t>
            </a:r>
            <a:endParaRPr lang="en-US" sz="2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4840F3E-DC45-09FD-6C94-8760CB343B1A}"/>
              </a:ext>
            </a:extLst>
          </p:cNvPr>
          <p:cNvSpPr txBox="1"/>
          <p:nvPr/>
        </p:nvSpPr>
        <p:spPr>
          <a:xfrm>
            <a:off x="6289862" y="3610631"/>
            <a:ext cx="6098240" cy="712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Ensures deterministic response, meaning actions are guaranteed to occur within strict, predictable timeframes.</a:t>
            </a:r>
            <a:endParaRPr lang="en-US" sz="18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11B1741-CB9B-DE7B-A89B-E130E0F7D14E}"/>
              </a:ext>
            </a:extLst>
          </p:cNvPr>
          <p:cNvSpPr txBox="1"/>
          <p:nvPr/>
        </p:nvSpPr>
        <p:spPr>
          <a:xfrm>
            <a:off x="6552079" y="5708373"/>
            <a:ext cx="6192370" cy="712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Suitable for automotive and safety-critical applications, meeting the rigorous demands of autonomous systems.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33668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8717E5B-2C1D-4094-9D25-6FF6FBD92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" y="1219200"/>
            <a:ext cx="4510838" cy="380455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F1C657-D3E5-FDA7-CE29-651FDE30E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044" y="2090114"/>
            <a:ext cx="3382890" cy="2481886"/>
          </a:xfrm>
        </p:spPr>
        <p:txBody>
          <a:bodyPr>
            <a:normAutofit/>
          </a:bodyPr>
          <a:lstStyle/>
          <a:p>
            <a:pPr algn="ctr"/>
            <a:r>
              <a:rPr lang="en-US" sz="3700" b="1"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Communication Architecture</a:t>
            </a:r>
            <a:br>
              <a:rPr lang="en-US" sz="3700"/>
            </a:br>
            <a:endParaRPr lang="en-IN" sz="37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EA6CF-AF29-6467-652B-F29399EC8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5014" y="964850"/>
            <a:ext cx="6068786" cy="4928300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100" b="1">
                <a:latin typeface="Times New Roman" panose="02020603050405020304" pitchFamily="18" charset="0"/>
                <a:cs typeface="Times New Roman" panose="02020603050405020304" pitchFamily="18" charset="0"/>
              </a:rPr>
              <a:t>System Communication Flow</a:t>
            </a: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employs a hybrid communication model combining serial and network-based communication protocols, ensuring real-time, bidirectional data exchange across all integrated components.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100" b="1">
                <a:latin typeface="Times New Roman" panose="02020603050405020304" pitchFamily="18" charset="0"/>
                <a:cs typeface="Times New Roman" panose="02020603050405020304" pitchFamily="18" charset="0"/>
              </a:rPr>
              <a:t>Arduino to Python — Serial Communication</a:t>
            </a: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is established via a USB serial interface</a:t>
            </a:r>
          </a:p>
          <a:p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Arduino continuously transmits real-time distance data to Python</a:t>
            </a:r>
          </a:p>
          <a:p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Python relays processed speed commands back to Arduino for execution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100" b="1">
                <a:latin typeface="Times New Roman" panose="02020603050405020304" pitchFamily="18" charset="0"/>
                <a:cs typeface="Times New Roman" panose="02020603050405020304" pitchFamily="18" charset="0"/>
              </a:rPr>
              <a:t>Python to QNX — Socket Communication</a:t>
            </a: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is handled through TCP/IP socket protocol</a:t>
            </a:r>
          </a:p>
          <a:p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Enables fast, stable, and reliable bidirectional data transfer</a:t>
            </a:r>
          </a:p>
          <a:p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Supports real-time control decisions with minimal latency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100" b="1">
                <a:latin typeface="Times New Roman" panose="02020603050405020304" pitchFamily="18" charset="0"/>
                <a:cs typeface="Times New Roman" panose="02020603050405020304" pitchFamily="18" charset="0"/>
              </a:rPr>
              <a:t>End-to-End Data Flow</a:t>
            </a: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Arduino reads and captures sensor distance data in real time</a:t>
            </a:r>
          </a:p>
          <a:p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Data is transmitted to Python via the serial communication interface</a:t>
            </a:r>
          </a:p>
          <a:p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Python forwards the received data to QNX RTOS via socket communication</a:t>
            </a:r>
          </a:p>
          <a:p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QNX processes the data and generates appropriate control commands</a:t>
            </a:r>
          </a:p>
          <a:p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Commands are relayed back to Arduino through Python for immediate motor actuation</a:t>
            </a:r>
          </a:p>
          <a:p>
            <a:endParaRPr lang="en-IN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388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97AC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16CB75-83E1-29CD-B33A-633782125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Algorithm Flow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4F70935-15CA-3D7B-E087-2FD41E5D9A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66468" y="961812"/>
            <a:ext cx="3932462" cy="493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1627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F2AF45-8F25-B1D6-EEF4-6C020BF8F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IN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2AC7E-3339-AAF6-06EC-E3F928AF8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The Adaptive Cruise Control system was developed using a multi-layered architecture comprising an Arduino-based embedded platform, a Python-driven serial-to-TCP communication bridge, and a QNX real-time control server. The system was rigorously evaluated under controlled experimental conditions, where physical obstacles were strategically positioned at predefined distances to assess responsiveness, accuracy, and real-time performance.</a:t>
            </a:r>
          </a:p>
          <a:p>
            <a:pPr marL="0" indent="0">
              <a:buNone/>
            </a:pP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100" b="1">
                <a:latin typeface="Times New Roman" panose="02020603050405020304" pitchFamily="18" charset="0"/>
                <a:cs typeface="Times New Roman" panose="02020603050405020304" pitchFamily="18" charset="0"/>
              </a:rPr>
              <a:t>Key Results:</a:t>
            </a: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QNX RTOS delivered deterministic, low-latency control responses with no timing violations recorded</a:t>
            </a:r>
          </a:p>
          <a:p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Vehicle speed was dynamically and smoothly adjusted in proportion to detected obstacle proximity</a:t>
            </a:r>
          </a:p>
          <a:p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Automatic emergency braking activated accurately when distance fell below the 20 cm critical threshold</a:t>
            </a:r>
          </a:p>
          <a:p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Seamless communication was maintained across Arduino, Python, and QNX with no data loss throughout testing</a:t>
            </a:r>
          </a:p>
          <a:p>
            <a:endParaRPr lang="en-IN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614B80-AF46-C03F-775C-497D4AB29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1940438"/>
            <a:ext cx="5670176" cy="3917772"/>
          </a:xfrm>
          <a:prstGeom prst="rect">
            <a:avLst/>
          </a:prstGeom>
        </p:spPr>
      </p:pic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0904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34B831F-B1BF-9C3B-05F9-8691340FB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IN" sz="36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D5F01-D309-0193-29C3-711954002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800" b="1">
                <a:solidFill>
                  <a:schemeClr val="tx2"/>
                </a:solidFill>
              </a:rPr>
              <a:t>Inter-module communication latency</a:t>
            </a:r>
            <a:r>
              <a:rPr lang="en-US" sz="1800">
                <a:solidFill>
                  <a:schemeClr val="tx2"/>
                </a:solidFill>
              </a:rPr>
              <a:t>, leading to delayed feedback and reduced real-time responsiveness across the Arduino–Python–QNX pipeline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>
                <a:solidFill>
                  <a:schemeClr val="tx2"/>
                </a:solidFill>
              </a:rPr>
              <a:t>Sensor noise and measurement uncertainty</a:t>
            </a:r>
            <a:r>
              <a:rPr lang="en-US" sz="1800">
                <a:solidFill>
                  <a:schemeClr val="tx2"/>
                </a:solidFill>
              </a:rPr>
              <a:t>, causing fluctuations in ultrasonic readings and affecting control accuracy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>
                <a:solidFill>
                  <a:schemeClr val="tx2"/>
                </a:solidFill>
              </a:rPr>
              <a:t>Hardware-level reliability issues</a:t>
            </a:r>
            <a:r>
              <a:rPr lang="en-US" sz="1800">
                <a:solidFill>
                  <a:schemeClr val="tx2"/>
                </a:solidFill>
              </a:rPr>
              <a:t>, particularly in motor driver circuitry, impacting consistent motor performance and system stability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>
                <a:solidFill>
                  <a:schemeClr val="tx2"/>
                </a:solidFill>
              </a:rPr>
              <a:t>System integration complexity</a:t>
            </a:r>
            <a:r>
              <a:rPr lang="en-US" sz="1800">
                <a:solidFill>
                  <a:schemeClr val="tx2"/>
                </a:solidFill>
              </a:rPr>
              <a:t>, arising from a multi-layer hybrid architecture, making debugging and fault isolation more challenging </a:t>
            </a:r>
          </a:p>
          <a:p>
            <a:endParaRPr lang="en-IN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33552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5132EE-C874-A745-821F-266BCC59D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IN" sz="4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Solutions Implemented</a:t>
            </a:r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54935DCC-1178-9334-D573-4F29EA771F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6180250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21462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587CA1-B9F2-31A2-6C16-026F77318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pic>
        <p:nvPicPr>
          <p:cNvPr id="5" name="Picture 4" descr="Robot hands and technology">
            <a:extLst>
              <a:ext uri="{FF2B5EF4-FFF2-40B4-BE49-F238E27FC236}">
                <a16:creationId xmlns:a16="http://schemas.microsoft.com/office/drawing/2014/main" id="{60D8A3C1-A496-538F-EEB5-33E37DEA5E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436" r="15673"/>
          <a:stretch>
            <a:fillRect/>
          </a:stretch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21CDA-F8DD-0D16-AF35-7A6E8974C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4840010" cy="3843666"/>
          </a:xfrm>
        </p:spPr>
        <p:txBody>
          <a:bodyPr>
            <a:normAutofit/>
          </a:bodyPr>
          <a:lstStyle/>
          <a:p>
            <a:pPr marL="342900" indent="-342900">
              <a:buSzPct val="100000"/>
            </a:pPr>
            <a:r>
              <a:rPr lang="en-US" sz="2000">
                <a:latin typeface="Manrope" pitchFamily="34" charset="0"/>
                <a:ea typeface="Manrope" pitchFamily="34" charset="-122"/>
                <a:cs typeface="Manrope" pitchFamily="34" charset="-120"/>
              </a:rPr>
              <a:t>Autonomous vehicles</a:t>
            </a:r>
            <a:endParaRPr lang="en-US" sz="2000"/>
          </a:p>
          <a:p>
            <a:pPr marL="342900" indent="-342900">
              <a:buSzPct val="100000"/>
            </a:pPr>
            <a:r>
              <a:rPr lang="en-US" sz="2000">
                <a:latin typeface="Manrope" pitchFamily="34" charset="0"/>
                <a:ea typeface="Manrope" pitchFamily="34" charset="-122"/>
                <a:cs typeface="Manrope" pitchFamily="34" charset="-120"/>
              </a:rPr>
              <a:t>Collision avoidance systems</a:t>
            </a:r>
            <a:endParaRPr lang="en-US" sz="2000"/>
          </a:p>
          <a:p>
            <a:pPr marL="342900" indent="-342900">
              <a:buSzPct val="100000"/>
            </a:pPr>
            <a:r>
              <a:rPr lang="en-US" sz="2000">
                <a:latin typeface="Manrope" pitchFamily="34" charset="0"/>
                <a:ea typeface="Manrope" pitchFamily="34" charset="-122"/>
                <a:cs typeface="Manrope" pitchFamily="34" charset="-120"/>
              </a:rPr>
              <a:t>Smart robotics</a:t>
            </a:r>
            <a:endParaRPr lang="en-US" sz="2000"/>
          </a:p>
          <a:p>
            <a:pPr marL="342900" indent="-342900">
              <a:buSzPct val="100000"/>
            </a:pPr>
            <a:r>
              <a:rPr lang="en-US" sz="2000">
                <a:latin typeface="Manrope" pitchFamily="34" charset="0"/>
                <a:ea typeface="Manrope" pitchFamily="34" charset="-122"/>
                <a:cs typeface="Manrope" pitchFamily="34" charset="-120"/>
              </a:rPr>
              <a:t>Advanced Driver Assistance Systems (ADAS)</a:t>
            </a:r>
            <a:endParaRPr lang="en-US" sz="2000"/>
          </a:p>
          <a:p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4462945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D40F37D-49AD-7E9C-6748-3D250A21F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IN" sz="36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CB348-C260-BAE7-40CB-C9F4A3B79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pPr marL="342900" indent="-342900">
              <a:buSzPct val="100000"/>
            </a:pPr>
            <a:r>
              <a:rPr lang="en-US" sz="1800">
                <a:solidFill>
                  <a:schemeClr val="tx2"/>
                </a:solidFill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Successfully developed a smart cruise control system</a:t>
            </a:r>
            <a:endParaRPr lang="en-US" sz="18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</a:pPr>
            <a:r>
              <a:rPr lang="en-US" sz="1800">
                <a:solidFill>
                  <a:schemeClr val="tx2"/>
                </a:solidFill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Achieved real-time adaptive speed control</a:t>
            </a:r>
            <a:endParaRPr lang="en-US" sz="18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</a:pPr>
            <a:r>
              <a:rPr lang="en-US" sz="1800">
                <a:solidFill>
                  <a:schemeClr val="tx2"/>
                </a:solidFill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Demonstrated integration of embedded systems and RTOS</a:t>
            </a:r>
            <a:endParaRPr lang="en-US" sz="18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74739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1B4C403F-9A8B-6807-792D-E575E034A0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25D74-C555-5427-F717-329546EFB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4000" b="1" i="1" dirty="0">
                <a:solidFill>
                  <a:schemeClr val="tx2"/>
                </a:solidFill>
              </a:rPr>
              <a:t>Thank You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99393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Banded Edge">
      <a:fillStyleLst>
        <a:solidFill>
          <a:schemeClr val="phClr"/>
        </a:solidFill>
        <a:solidFill>
          <a:schemeClr val="phClr">
            <a:tint val="5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777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222</TotalTime>
  <Words>1508</Words>
  <Application>Microsoft Macintosh PowerPoint</Application>
  <PresentationFormat>Widescreen</PresentationFormat>
  <Paragraphs>164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Calibri Light</vt:lpstr>
      <vt:lpstr>DM Sans Light</vt:lpstr>
      <vt:lpstr>Manrope</vt:lpstr>
      <vt:lpstr>Times New Roman</vt:lpstr>
      <vt:lpstr>Wingdings</vt:lpstr>
      <vt:lpstr>Office Theme</vt:lpstr>
      <vt:lpstr>PowerPoint Presentation</vt:lpstr>
      <vt:lpstr>Introduction</vt:lpstr>
      <vt:lpstr>Objectives</vt:lpstr>
      <vt:lpstr>Problem Statement</vt:lpstr>
      <vt:lpstr>System Overview </vt:lpstr>
      <vt:lpstr> </vt:lpstr>
      <vt:lpstr>Hardware Component</vt:lpstr>
      <vt:lpstr>Hardware </vt:lpstr>
      <vt:lpstr>Working Principle</vt:lpstr>
      <vt:lpstr>Software Component</vt:lpstr>
      <vt:lpstr>Control Logic </vt:lpstr>
      <vt:lpstr>Role of QNX RTOS</vt:lpstr>
      <vt:lpstr>Communication Architecture </vt:lpstr>
      <vt:lpstr>Algorithm Flow</vt:lpstr>
      <vt:lpstr>Results</vt:lpstr>
      <vt:lpstr>Challenges Faced</vt:lpstr>
      <vt:lpstr>Solutions Implemented</vt:lpstr>
      <vt:lpstr>Applications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ansh srivastava</dc:creator>
  <cp:lastModifiedBy>JAMKHANAM LATHIEF HUSSAIN JAMKHANAM IMAM SAHEB (RA2311005010058)</cp:lastModifiedBy>
  <cp:revision>4</cp:revision>
  <dcterms:created xsi:type="dcterms:W3CDTF">2026-04-27T18:29:36Z</dcterms:created>
  <dcterms:modified xsi:type="dcterms:W3CDTF">2026-04-28T03:30:03Z</dcterms:modified>
</cp:coreProperties>
</file>